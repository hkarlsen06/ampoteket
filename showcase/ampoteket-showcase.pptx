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Ampoteket: selvbetjent delebutikk og lagersystem for delehylla i verkstedet. Hele presentasjonen er laget fra skjermbilder av den ekte løsningen, med eksempeldata.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Hylla har 12 kabinetter og 492 skuffer. I dag vet ingen sikkert hva som er på lager, eller hva som er betalt. Det er problemet vi løser.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Løsningen kjenner hele veggen: hvert kabinett og hver skuff. Hver del har sin egen skuff med en lapp. Neste lysbilde zoomer inn på kabinett A1.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Hver skuff har en lapp med delekode og QR-kode. QR-koden inneholder bare adressen ampoteket.no/p/KODE, så lappene blir aldri utdaterte når prisen endres. Etikettene skrives ut fra 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Steg 1, finn delen. Kjøperen skanner QR-koden på skuffen med kameraet på nettsiden, eller søker i katalogen. Ingen konto og ingen app. Norsk på /, engelsk på /en, og siden følger telefonens mørk eller lys modus.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Steg 2. Delene legges i handlekurven. Her: tre deler, til sammen 14,50 kr. Når kjøperen går til kassen fryses prisen, så den ikke endrer seg mens hen betaler.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Kassen viser beløpet og Vippsnummer 47322. Kjøperen betaler i sin egen Vipps-app. Mister hen nettet etter at hen har betalt, fortsetter hen samme kjøp fra handlekurven og blir aldri bedt om å betale to ganger.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Steg 3. Kjøperen trykker «Jeg har betalt, registrer kjøpet». Delene trekkes fra lageret med en gang. Har kjøperen oppgitt e-post, kommer en kvittering på norsk eller engelsk.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Betalingen er tillitsbasert. Nettsiden sier aldri at betalingen er bekreftet, så den er ærlig og trenger ingen Vipps-bedriftsavtale. Hva om folk ikke betaler? Samme som i dag: tillit. Forskjellen er at salgene registreres, så frivillige kan sammenligne registrerte salg med Vipps.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Nå bytter vi til de frivillige. Hver frivillig har sin egen innlogging, invitert fra admin. Oversikten viser registrerte kjøp og salgsverdi siste 30 dager, og hva som trenger oppmerksomhet.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er kjøpet vi nettopp gjorde: «Registrert kjøp −10 stk» i lagerhistorikken for RES-00005. Lagerendringer redigeres aldri. Feil rettes med en ny bevegelse og en begrunnelse, så historikken er permanent. Ved telling avviser systemet tellingen hvis beholdningen endret seg mens du talte.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Etiketter kan skrives ut på to måter. Velg kabinetter på hyllekartet og skriv ut A4-ark: kabinett A1 gir 48 etiketter på 3 ark. Eller skriv ut én etikett om gangen på Brother PT-P700 rett fra produktsiden, for eksempel når en ny del kommer inn. Etiketten på bildet er nøyaktig den skriveren lager for RES-00005, på 18 mm tape.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Bestillinger registrerer det som er kjøpt inn andre steder, og mottak legger til lager, også delvise leveranser. Endringsloggen viser hvem som gjorde hva. Frivillige administrerer hverandre selv under Administratorer.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 er testet automatisk: 223 tester, databasen og hele nettsiden i en ekte nettleser. Hva om jeg slutter? Alt er dokumentert, testes automatisk ved hver endring, og frivillige administrerer hverandre i løsningen.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 som gjenstår før lansering, og det jeg trenger fra dere. Kostnad: hosting er Cloudflare Workers og Supabase. Planen er ikke valgt ennå, fordi backup avhenger av Supabase-planen. Sjekk dagens priser før vi lover et tall. Refusjon, reservasjoner og kontoer er bevisst utenfor første versjon.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Takk. QR-koden går til ampoteket.no. Spørsmål?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jp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4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5.jpg"/><Relationship Id="rId2" Type="http://schemas.openxmlformats.org/officeDocument/2006/relationships/image" Target="../media/image-1-6.pn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image" Target="../media/image-1-4.png"/><Relationship Id="rId6" Type="http://schemas.openxmlformats.org/officeDocument/2006/relationships/image" Target="../media/image-1-7.png"/><Relationship Id="rId7" Type="http://schemas.openxmlformats.org/officeDocument/2006/relationships/image" Target="../media/image-1-8.png"/><Relationship Id="rId8" Type="http://schemas.openxmlformats.org/officeDocument/2006/relationships/image" Target="../media/image-1-1.jpg"/><Relationship Id="rId9" Type="http://schemas.openxmlformats.org/officeDocument/2006/relationships/image" Target="../media/image-1-4.png"/><Relationship Id="rId10" Type="http://schemas.openxmlformats.org/officeDocument/2006/relationships/image" Target="../media/image-1-7.png"/><Relationship Id="rId11" Type="http://schemas.openxmlformats.org/officeDocument/2006/relationships/image" Target="../media/image-1-8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3.png"/><Relationship Id="rId15" Type="http://schemas.openxmlformats.org/officeDocument/2006/relationships/image" Target="../media/image-2-13.png"/><Relationship Id="rId16" Type="http://schemas.openxmlformats.org/officeDocument/2006/relationships/image" Target="../media/image-2-16.png"/><Relationship Id="rId17" Type="http://schemas.openxmlformats.org/officeDocument/2006/relationships/image" Target="../media/image-2-13.png"/><Relationship Id="rId18" Type="http://schemas.openxmlformats.org/officeDocument/2006/relationships/image" Target="../media/image-2-13.png"/><Relationship Id="rId19" Type="http://schemas.openxmlformats.org/officeDocument/2006/relationships/image" Target="../media/image-2-13.png"/><Relationship Id="rId20" Type="http://schemas.openxmlformats.org/officeDocument/2006/relationships/image" Target="../media/image-2-13.png"/><Relationship Id="rId21" Type="http://schemas.openxmlformats.org/officeDocument/2006/relationships/image" Target="../media/image-2-12.png"/><Relationship Id="rId22" Type="http://schemas.openxmlformats.org/officeDocument/2006/relationships/image" Target="../media/image-2-13.png"/><Relationship Id="rId23" Type="http://schemas.openxmlformats.org/officeDocument/2006/relationships/image" Target="../media/image-2-12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image" Target="../media/image-1-4.png"/><Relationship Id="rId4" Type="http://schemas.openxmlformats.org/officeDocument/2006/relationships/image" Target="../media/image-1-7.png"/><Relationship Id="rId5" Type="http://schemas.openxmlformats.org/officeDocument/2006/relationships/image" Target="../media/image-1-8.png"/><Relationship Id="rId6" Type="http://schemas.openxmlformats.org/officeDocument/2006/relationships/image" Target="../media/image-2-12.png"/><Relationship Id="rId7" Type="http://schemas.openxmlformats.org/officeDocument/2006/relationships/image" Target="../media/image-2-13.png"/><Relationship Id="rId8" Type="http://schemas.openxmlformats.org/officeDocument/2006/relationships/image" Target="../media/image-2-13.png"/><Relationship Id="rId9" Type="http://schemas.openxmlformats.org/officeDocument/2006/relationships/image" Target="../media/image-2-13.png"/><Relationship Id="rId10" Type="http://schemas.openxmlformats.org/officeDocument/2006/relationships/image" Target="../media/image-2-16.png"/><Relationship Id="rId11" Type="http://schemas.openxmlformats.org/officeDocument/2006/relationships/image" Target="../media/image-2-13.png"/><Relationship Id="rId12" Type="http://schemas.openxmlformats.org/officeDocument/2006/relationships/image" Target="../media/image-2-13.png"/><Relationship Id="rId13" Type="http://schemas.openxmlformats.org/officeDocument/2006/relationships/image" Target="../media/image-2-13.png"/><Relationship Id="rId14" Type="http://schemas.openxmlformats.org/officeDocument/2006/relationships/image" Target="../media/image-2-13.png"/><Relationship Id="rId15" Type="http://schemas.openxmlformats.org/officeDocument/2006/relationships/image" Target="../media/image-2-12.png"/><Relationship Id="rId16" Type="http://schemas.openxmlformats.org/officeDocument/2006/relationships/image" Target="../media/image-2-13.png"/><Relationship Id="rId17" Type="http://schemas.openxmlformats.org/officeDocument/2006/relationships/image" Target="../media/image-2-12.png"/><Relationship Id="rId18" Type="http://schemas.openxmlformats.org/officeDocument/2006/relationships/image" Target="../media/image-1-5.jpg"/><Relationship Id="rId19" Type="http://schemas.openxmlformats.org/officeDocument/2006/relationships/image" Target="../media/image-1-6.png"/><Relationship Id="rId20" Type="http://schemas.openxmlformats.org/officeDocument/2006/relationships/image" Target="../media/image-1-7.png"/><Relationship Id="rId21" Type="http://schemas.openxmlformats.org/officeDocument/2006/relationships/image" Target="../media/image-1-8.png"/><Relationship Id="rId22" Type="http://schemas.openxmlformats.org/officeDocument/2006/relationships/image" Target="../media/image-3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image" Target="../media/image-1-4.png"/><Relationship Id="rId4" Type="http://schemas.openxmlformats.org/officeDocument/2006/relationships/image" Target="../media/image-2-12.png"/><Relationship Id="rId5" Type="http://schemas.openxmlformats.org/officeDocument/2006/relationships/image" Target="../media/image-2-13.png"/><Relationship Id="rId6" Type="http://schemas.openxmlformats.org/officeDocument/2006/relationships/image" Target="../media/image-2-13.png"/><Relationship Id="rId7" Type="http://schemas.openxmlformats.org/officeDocument/2006/relationships/image" Target="../media/image-2-13.png"/><Relationship Id="rId8" Type="http://schemas.openxmlformats.org/officeDocument/2006/relationships/image" Target="../media/image-2-16.png"/><Relationship Id="rId9" Type="http://schemas.openxmlformats.org/officeDocument/2006/relationships/image" Target="../media/image-2-13.png"/><Relationship Id="rId10" Type="http://schemas.openxmlformats.org/officeDocument/2006/relationships/image" Target="../media/image-2-13.png"/><Relationship Id="rId11" Type="http://schemas.openxmlformats.org/officeDocument/2006/relationships/image" Target="../media/image-2-13.png"/><Relationship Id="rId12" Type="http://schemas.openxmlformats.org/officeDocument/2006/relationships/image" Target="../media/image-2-13.png"/><Relationship Id="rId13" Type="http://schemas.openxmlformats.org/officeDocument/2006/relationships/image" Target="../media/image-2-12.png"/><Relationship Id="rId14" Type="http://schemas.openxmlformats.org/officeDocument/2006/relationships/image" Target="../media/image-2-13.png"/><Relationship Id="rId15" Type="http://schemas.openxmlformats.org/officeDocument/2006/relationships/image" Target="../media/image-2-12.png"/><Relationship Id="rId16" Type="http://schemas.openxmlformats.org/officeDocument/2006/relationships/image" Target="../media/image-3-22.png"/><Relationship Id="rId17" Type="http://schemas.openxmlformats.org/officeDocument/2006/relationships/image" Target="../media/image-1-7.png"/><Relationship Id="rId18" Type="http://schemas.openxmlformats.org/officeDocument/2006/relationships/image" Target="../media/image-1-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image" Target="../media/image-1-4.png"/><Relationship Id="rId4" Type="http://schemas.openxmlformats.org/officeDocument/2006/relationships/image" Target="../media/image-4-19.png"/><Relationship Id="rId5" Type="http://schemas.openxmlformats.org/officeDocument/2006/relationships/image" Target="../media/image-4-20.png"/><Relationship Id="rId6" Type="http://schemas.openxmlformats.org/officeDocument/2006/relationships/image" Target="../media/image-4-21.png"/><Relationship Id="rId7" Type="http://schemas.openxmlformats.org/officeDocument/2006/relationships/image" Target="../media/image-4-22.png"/><Relationship Id="rId8" Type="http://schemas.openxmlformats.org/officeDocument/2006/relationships/image" Target="../media/image-2-12.png"/><Relationship Id="rId9" Type="http://schemas.openxmlformats.org/officeDocument/2006/relationships/image" Target="../media/image-2-13.png"/><Relationship Id="rId10" Type="http://schemas.openxmlformats.org/officeDocument/2006/relationships/image" Target="../media/image-2-13.png"/><Relationship Id="rId11" Type="http://schemas.openxmlformats.org/officeDocument/2006/relationships/image" Target="../media/image-2-13.png"/><Relationship Id="rId12" Type="http://schemas.openxmlformats.org/officeDocument/2006/relationships/image" Target="../media/image-2-16.png"/><Relationship Id="rId13" Type="http://schemas.openxmlformats.org/officeDocument/2006/relationships/image" Target="../media/image-2-13.png"/><Relationship Id="rId14" Type="http://schemas.openxmlformats.org/officeDocument/2006/relationships/image" Target="../media/image-2-13.png"/><Relationship Id="rId15" Type="http://schemas.openxmlformats.org/officeDocument/2006/relationships/image" Target="../media/image-2-13.png"/><Relationship Id="rId16" Type="http://schemas.openxmlformats.org/officeDocument/2006/relationships/image" Target="../media/image-2-13.png"/><Relationship Id="rId17" Type="http://schemas.openxmlformats.org/officeDocument/2006/relationships/image" Target="../media/image-2-12.png"/><Relationship Id="rId18" Type="http://schemas.openxmlformats.org/officeDocument/2006/relationships/image" Target="../media/image-2-13.png"/><Relationship Id="rId19" Type="http://schemas.openxmlformats.org/officeDocument/2006/relationships/image" Target="../media/image-2-12.png"/><Relationship Id="rId20" Type="http://schemas.openxmlformats.org/officeDocument/2006/relationships/image" Target="../media/image-3-22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4-20.png"/><Relationship Id="rId24" Type="http://schemas.openxmlformats.org/officeDocument/2006/relationships/image" Target="../media/image-4-21.png"/><Relationship Id="rId25" Type="http://schemas.openxmlformats.org/officeDocument/2006/relationships/image" Target="../media/image-4-22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image" Target="../media/image-1-4.png"/><Relationship Id="rId4" Type="http://schemas.openxmlformats.org/officeDocument/2006/relationships/image" Target="../media/image-5-21.png"/><Relationship Id="rId5" Type="http://schemas.openxmlformats.org/officeDocument/2006/relationships/image" Target="../media/image-5-22.png"/><Relationship Id="rId6" Type="http://schemas.openxmlformats.org/officeDocument/2006/relationships/image" Target="../media/image-4-20.png"/><Relationship Id="rId7" Type="http://schemas.openxmlformats.org/officeDocument/2006/relationships/image" Target="../media/image-4-21.png"/><Relationship Id="rId8" Type="http://schemas.openxmlformats.org/officeDocument/2006/relationships/image" Target="../media/image-4-22.png"/><Relationship Id="rId9" Type="http://schemas.openxmlformats.org/officeDocument/2006/relationships/image" Target="../media/image-4-19.png"/><Relationship Id="rId10" Type="http://schemas.openxmlformats.org/officeDocument/2006/relationships/image" Target="../media/image-4-20.png"/><Relationship Id="rId11" Type="http://schemas.openxmlformats.org/officeDocument/2006/relationships/image" Target="../media/image-4-21.png"/><Relationship Id="rId12" Type="http://schemas.openxmlformats.org/officeDocument/2006/relationships/image" Target="../media/image-4-22.png"/><Relationship Id="rId13" Type="http://schemas.openxmlformats.org/officeDocument/2006/relationships/image" Target="../media/image-6-13.png"/><Relationship Id="rId14" Type="http://schemas.openxmlformats.org/officeDocument/2006/relationships/image" Target="../media/image-5-22.png"/><Relationship Id="rId15" Type="http://schemas.openxmlformats.org/officeDocument/2006/relationships/image" Target="../media/image-4-20.png"/><Relationship Id="rId16" Type="http://schemas.openxmlformats.org/officeDocument/2006/relationships/image" Target="../media/image-4-21.png"/><Relationship Id="rId17" Type="http://schemas.openxmlformats.org/officeDocument/2006/relationships/image" Target="../media/image-4-22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image" Target="../media/image-1-4.png"/><Relationship Id="rId4" Type="http://schemas.openxmlformats.org/officeDocument/2006/relationships/image" Target="../media/image-6-13.png"/><Relationship Id="rId5" Type="http://schemas.openxmlformats.org/officeDocument/2006/relationships/image" Target="../media/image-5-22.png"/><Relationship Id="rId6" Type="http://schemas.openxmlformats.org/officeDocument/2006/relationships/image" Target="../media/image-4-20.png"/><Relationship Id="rId7" Type="http://schemas.openxmlformats.org/officeDocument/2006/relationships/image" Target="../media/image-4-21.png"/><Relationship Id="rId8" Type="http://schemas.openxmlformats.org/officeDocument/2006/relationships/image" Target="../media/image-4-22.png"/><Relationship Id="rId9" Type="http://schemas.openxmlformats.org/officeDocument/2006/relationships/image" Target="../media/image-5-21.png"/><Relationship Id="rId10" Type="http://schemas.openxmlformats.org/officeDocument/2006/relationships/image" Target="../media/image-5-22.png"/><Relationship Id="rId11" Type="http://schemas.openxmlformats.org/officeDocument/2006/relationships/image" Target="../media/image-4-20.png"/><Relationship Id="rId12" Type="http://schemas.openxmlformats.org/officeDocument/2006/relationships/image" Target="../media/image-4-21.png"/><Relationship Id="rId13" Type="http://schemas.openxmlformats.org/officeDocument/2006/relationships/image" Target="../media/image-4-22.png"/><Relationship Id="rId14" Type="http://schemas.openxmlformats.org/officeDocument/2006/relationships/image" Target="../media/image-7-14.png"/><Relationship Id="rId15" Type="http://schemas.openxmlformats.org/officeDocument/2006/relationships/image" Target="../media/image-4-20.png"/><Relationship Id="rId16" Type="http://schemas.openxmlformats.org/officeDocument/2006/relationships/image" Target="../media/image-4-21.png"/><Relationship Id="rId17" Type="http://schemas.openxmlformats.org/officeDocument/2006/relationships/image" Target="../media/image-4-22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image" Target="../media/image-1-4.png"/><Relationship Id="rId4" Type="http://schemas.openxmlformats.org/officeDocument/2006/relationships/image" Target="../media/image-7-14.png"/><Relationship Id="rId5" Type="http://schemas.openxmlformats.org/officeDocument/2006/relationships/image" Target="../media/image-4-20.png"/><Relationship Id="rId6" Type="http://schemas.openxmlformats.org/officeDocument/2006/relationships/image" Target="../media/image-4-21.png"/><Relationship Id="rId7" Type="http://schemas.openxmlformats.org/officeDocument/2006/relationships/image" Target="../media/image-4-22.png"/><Relationship Id="rId8" Type="http://schemas.openxmlformats.org/officeDocument/2006/relationships/image" Target="../media/image-6-13.png"/><Relationship Id="rId9" Type="http://schemas.openxmlformats.org/officeDocument/2006/relationships/image" Target="../media/image-5-22.png"/><Relationship Id="rId10" Type="http://schemas.openxmlformats.org/officeDocument/2006/relationships/image" Target="../media/image-4-20.png"/><Relationship Id="rId11" Type="http://schemas.openxmlformats.org/officeDocument/2006/relationships/image" Target="../media/image-4-21.png"/><Relationship Id="rId12" Type="http://schemas.openxmlformats.org/officeDocument/2006/relationships/image" Target="../media/image-4-2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image" Target="../media/image-1-4.png"/><Relationship Id="rId4" Type="http://schemas.openxmlformats.org/officeDocument/2006/relationships/image" Target="../media/image-8-13.png"/><Relationship Id="rId5" Type="http://schemas.openxmlformats.org/officeDocument/2006/relationships/image" Target="../media/image-8-14.png"/><Relationship Id="rId6" Type="http://schemas.openxmlformats.org/officeDocument/2006/relationships/image" Target="../media/image-8-15.png"/><Relationship Id="rId7" Type="http://schemas.openxmlformats.org/officeDocument/2006/relationships/image" Target="../media/image-8-16.png"/><Relationship Id="rId8" Type="http://schemas.openxmlformats.org/officeDocument/2006/relationships/image" Target="../media/image-7-14.png"/><Relationship Id="rId9" Type="http://schemas.openxmlformats.org/officeDocument/2006/relationships/image" Target="../media/image-4-20.png"/><Relationship Id="rId10" Type="http://schemas.openxmlformats.org/officeDocument/2006/relationships/image" Target="../media/image-4-21.png"/><Relationship Id="rId11" Type="http://schemas.openxmlformats.org/officeDocument/2006/relationships/image" Target="../media/image-4-22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image" Target="../media/image-1-4.png"/><Relationship Id="rId4" Type="http://schemas.openxmlformats.org/officeDocument/2006/relationships/image" Target="../media/image-9-12.png"/><Relationship Id="rId5" Type="http://schemas.openxmlformats.org/officeDocument/2006/relationships/image" Target="../media/image-8-13.png"/><Relationship Id="rId6" Type="http://schemas.openxmlformats.org/officeDocument/2006/relationships/image" Target="../media/image-8-14.png"/><Relationship Id="rId7" Type="http://schemas.openxmlformats.org/officeDocument/2006/relationships/image" Target="../media/image-8-15.png"/><Relationship Id="rId8" Type="http://schemas.openxmlformats.org/officeDocument/2006/relationships/image" Target="../media/image-8-16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image" Target="../media/image-1-4.png"/><Relationship Id="rId4" Type="http://schemas.openxmlformats.org/officeDocument/2006/relationships/image" Target="../media/image-10-9.png"/><Relationship Id="rId5" Type="http://schemas.openxmlformats.org/officeDocument/2006/relationships/image" Target="../media/image-9-12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image" Target="../media/image-1-4.png"/><Relationship Id="rId4" Type="http://schemas.openxmlformats.org/officeDocument/2006/relationships/image" Target="../media/image-11-6.png"/><Relationship Id="rId5" Type="http://schemas.openxmlformats.org/officeDocument/2006/relationships/image" Target="../media/image-11-7.png"/><Relationship Id="rId6" Type="http://schemas.openxmlformats.org/officeDocument/2006/relationships/image" Target="../media/image-11-8.png"/><Relationship Id="rId7" Type="http://schemas.openxmlformats.org/officeDocument/2006/relationships/image" Target="../media/image-11-9.png"/><Relationship Id="rId8" Type="http://schemas.openxmlformats.org/officeDocument/2006/relationships/image" Target="../media/image-10-9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image" Target="../media/image-1-4.png"/><Relationship Id="rId4" Type="http://schemas.openxmlformats.org/officeDocument/2006/relationships/image" Target="../media/image-12-9.png"/><Relationship Id="rId5" Type="http://schemas.openxmlformats.org/officeDocument/2006/relationships/image" Target="../media/image-12-10.png"/><Relationship Id="rId6" Type="http://schemas.openxmlformats.org/officeDocument/2006/relationships/image" Target="../media/image-12-11.png"/><Relationship Id="rId7" Type="http://schemas.openxmlformats.org/officeDocument/2006/relationships/image" Target="../media/image-11-6.png"/><Relationship Id="rId8" Type="http://schemas.openxmlformats.org/officeDocument/2006/relationships/image" Target="../media/image-11-7.png"/><Relationship Id="rId9" Type="http://schemas.openxmlformats.org/officeDocument/2006/relationships/image" Target="../media/image-11-8.png"/><Relationship Id="rId10" Type="http://schemas.openxmlformats.org/officeDocument/2006/relationships/image" Target="../media/image-11-9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image" Target="../media/image-1-4.png"/><Relationship Id="rId3" Type="http://schemas.openxmlformats.org/officeDocument/2006/relationships/image" Target="../media/image-13-11.png"/><Relationship Id="rId4" Type="http://schemas.openxmlformats.org/officeDocument/2006/relationships/image" Target="../media/image-13-12.png"/><Relationship Id="rId5" Type="http://schemas.openxmlformats.org/officeDocument/2006/relationships/image" Target="../media/image-13-13.png"/><Relationship Id="rId6" Type="http://schemas.openxmlformats.org/officeDocument/2006/relationships/image" Target="../media/image-13-14.png"/><Relationship Id="rId7" Type="http://schemas.openxmlformats.org/officeDocument/2006/relationships/image" Target="../media/image-12-9.png"/><Relationship Id="rId8" Type="http://schemas.openxmlformats.org/officeDocument/2006/relationships/image" Target="../media/image-12-10.png"/><Relationship Id="rId9" Type="http://schemas.openxmlformats.org/officeDocument/2006/relationships/image" Target="../media/image-12-11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image" Target="../media/image-1-4.png"/><Relationship Id="rId4" Type="http://schemas.openxmlformats.org/officeDocument/2006/relationships/image" Target="../media/image-14-10.png"/><Relationship Id="rId5" Type="http://schemas.openxmlformats.org/officeDocument/2006/relationships/image" Target="../media/image-14-11.png"/><Relationship Id="rId6" Type="http://schemas.openxmlformats.org/officeDocument/2006/relationships/image" Target="../media/image-14-12.png"/><Relationship Id="rId7" Type="http://schemas.openxmlformats.org/officeDocument/2006/relationships/image" Target="../media/image-14-13.png"/><Relationship Id="rId8" Type="http://schemas.openxmlformats.org/officeDocument/2006/relationships/image" Target="../media/image-13-11.png"/><Relationship Id="rId9" Type="http://schemas.openxmlformats.org/officeDocument/2006/relationships/image" Target="../media/image-13-12.png"/><Relationship Id="rId10" Type="http://schemas.openxmlformats.org/officeDocument/2006/relationships/image" Target="../media/image-13-13.png"/><Relationship Id="rId11" Type="http://schemas.openxmlformats.org/officeDocument/2006/relationships/image" Target="../media/image-13-14.png"/><Relationship Id="rId12" Type="http://schemas.openxmlformats.org/officeDocument/2006/relationships/image" Target="../media/image-1-1.jpg"/><Relationship Id="rId13" Type="http://schemas.openxmlformats.org/officeDocument/2006/relationships/image" Target="../media/image-1-4.png"/><Relationship Id="rId14" Type="http://schemas.openxmlformats.org/officeDocument/2006/relationships/image" Target="../media/image-1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5-14.png"/><Relationship Id="rId6" Type="http://schemas.openxmlformats.org/officeDocument/2006/relationships/image" Target="../media/image-14-10.png"/><Relationship Id="rId7" Type="http://schemas.openxmlformats.org/officeDocument/2006/relationships/image" Target="../media/image-14-11.png"/><Relationship Id="rId8" Type="http://schemas.openxmlformats.org/officeDocument/2006/relationships/image" Target="../media/image-14-12.png"/><Relationship Id="rId9" Type="http://schemas.openxmlformats.org/officeDocument/2006/relationships/image" Target="../media/image-14-13.png"/><Relationship Id="rId10" Type="http://schemas.openxmlformats.org/officeDocument/2006/relationships/image" Target="../media/image-1-4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c0_0" descr="/tmp/deck/a/photo-storefront.jp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!!orbR" descr="/tmp/deck/a/orb-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77440" y="3291840"/>
            <a:ext cx="6400800" cy="6400800"/>
          </a:xfrm>
          <a:prstGeom prst="rect">
            <a:avLst/>
          </a:prstGeom>
        </p:spPr>
      </p:pic>
      <p:pic>
        <p:nvPicPr>
          <p:cNvPr id="5" name="!!orbG" descr="/tmp/deck/a/orb-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-2926080"/>
            <a:ext cx="6400800" cy="6400800"/>
          </a:xfrm>
          <a:prstGeom prst="rect">
            <a:avLst/>
          </a:prstGeom>
        </p:spPr>
      </p:pic>
      <p:pic>
        <p:nvPicPr>
          <p:cNvPr id="6" name="!!c0_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1128" y="2148840"/>
            <a:ext cx="6949440" cy="1277660"/>
          </a:xfrm>
          <a:prstGeom prst="rect">
            <a:avLst/>
          </a:prstGeom>
        </p:spPr>
      </p:pic>
      <p:sp>
        <p:nvSpPr>
          <p:cNvPr id="7" name="!!c0_2"/>
          <p:cNvSpPr txBox="1"/>
          <p:nvPr/>
        </p:nvSpPr>
        <p:spPr>
          <a:xfrm>
            <a:off x="914400" y="370332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Selvbetjent delebutikk og lagersystem for verkstedet</a:t>
            </a:r>
            <a:endParaRPr lang="en-US" sz="2600" dirty="0"/>
          </a:p>
        </p:txBody>
      </p:sp>
      <p:sp>
        <p:nvSpPr>
          <p:cNvPr id="8" name="!!c0_3"/>
          <p:cNvSpPr txBox="1"/>
          <p:nvPr/>
        </p:nvSpPr>
        <p:spPr>
          <a:xfrm>
            <a:off x="914400" y="43434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ampoteket.no  ·  Pilestredet 35  ·  1. oktober 2026</a:t>
            </a:r>
            <a:endParaRPr lang="en-US" sz="1500" dirty="0"/>
          </a:p>
        </p:txBody>
      </p:sp>
      <p:pic>
        <p:nvPicPr>
          <p:cNvPr id="9" name="!!c1_0" descr="/tmp/deck/a/photo-drawers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7406640"/>
            <a:ext cx="12191695" cy="6858000"/>
          </a:xfrm>
          <a:prstGeom prst="rect">
            <a:avLst/>
          </a:prstGeom>
        </p:spPr>
      </p:pic>
      <p:pic>
        <p:nvPicPr>
          <p:cNvPr id="10" name="!!c1_1" descr="/tmp/deck/a/fade-lef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7406640"/>
            <a:ext cx="12191695" cy="6858000"/>
          </a:xfrm>
          <a:prstGeom prst="rect">
            <a:avLst/>
          </a:prstGeom>
        </p:spPr>
      </p:pic>
      <p:sp>
        <p:nvSpPr>
          <p:cNvPr id="11" name="!!c1_2"/>
          <p:cNvSpPr txBox="1"/>
          <p:nvPr/>
        </p:nvSpPr>
        <p:spPr>
          <a:xfrm>
            <a:off x="548640" y="-1869440"/>
            <a:ext cx="54864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Delehylla i dag</a:t>
            </a:r>
            <a:endParaRPr lang="en-US" sz="4000" dirty="0"/>
          </a:p>
        </p:txBody>
      </p:sp>
      <p:pic>
        <p:nvPicPr>
          <p:cNvPr id="12" name="!!c1_3" descr="/tmp/deck/a/led-1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980061" y="2240280"/>
            <a:ext cx="1431421" cy="1143000"/>
          </a:xfrm>
          <a:prstGeom prst="rect">
            <a:avLst/>
          </a:prstGeom>
        </p:spPr>
      </p:pic>
      <p:sp>
        <p:nvSpPr>
          <p:cNvPr id="13" name="!!c1_4"/>
          <p:cNvSpPr txBox="1"/>
          <p:nvPr/>
        </p:nvSpPr>
        <p:spPr>
          <a:xfrm>
            <a:off x="-237744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kabinetter</a:t>
            </a:r>
            <a:endParaRPr lang="en-US" sz="1800" dirty="0"/>
          </a:p>
        </p:txBody>
      </p:sp>
      <p:pic>
        <p:nvPicPr>
          <p:cNvPr id="14" name="!!c1_5" descr="/tmp/deck/a/led-49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7440" y="-1691640"/>
            <a:ext cx="2088379" cy="1143000"/>
          </a:xfrm>
          <a:prstGeom prst="rect">
            <a:avLst/>
          </a:prstGeom>
        </p:spPr>
      </p:pic>
      <p:sp>
        <p:nvSpPr>
          <p:cNvPr id="15" name="!!c1_6"/>
          <p:cNvSpPr txBox="1"/>
          <p:nvPr/>
        </p:nvSpPr>
        <p:spPr>
          <a:xfrm>
            <a:off x="2377440" y="-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skuffer</a:t>
            </a:r>
            <a:endParaRPr lang="en-US" sz="1800" dirty="0"/>
          </a:p>
        </p:txBody>
      </p:sp>
      <p:sp>
        <p:nvSpPr>
          <p:cNvPr id="16" name="!!c1_7"/>
          <p:cNvSpPr txBox="1"/>
          <p:nvPr/>
        </p:nvSpPr>
        <p:spPr>
          <a:xfrm>
            <a:off x="548640" y="74066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vet sikkert hva som er på lager, eller hva som er betalt. Frivillige oppdager at noe er tomt når det allerede er tomt.</a:t>
            </a:r>
            <a:endParaRPr lang="en-US" sz="2000" dirty="0"/>
          </a:p>
        </p:txBody>
      </p:sp>
      <p:pic>
        <p:nvPicPr>
          <p:cNvPr id="17" name="!!logo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-842838"/>
            <a:ext cx="1600200" cy="29419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c1_0" descr="/tmp/deck/a/photo-drawer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!!c1_1" descr="/tmp/deck/a/fade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!!orbR" descr="/tmp/deck/a/orb-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26080" y="2011680"/>
            <a:ext cx="6400800" cy="6400800"/>
          </a:xfrm>
          <a:prstGeom prst="rect">
            <a:avLst/>
          </a:prstGeom>
        </p:spPr>
      </p:pic>
      <p:pic>
        <p:nvPicPr>
          <p:cNvPr id="6" name="!!orbG" descr="/tmp/deck/a/orb-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4114800"/>
            <a:ext cx="5486400" cy="5486400"/>
          </a:xfrm>
          <a:prstGeom prst="rect">
            <a:avLst/>
          </a:prstGeom>
        </p:spPr>
      </p:pic>
      <p:pic>
        <p:nvPicPr>
          <p:cNvPr id="7" name="!!log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84048"/>
            <a:ext cx="1600200" cy="294198"/>
          </a:xfrm>
          <a:prstGeom prst="rect">
            <a:avLst/>
          </a:prstGeom>
        </p:spPr>
      </p:pic>
      <p:sp>
        <p:nvSpPr>
          <p:cNvPr id="8" name="!!c1_2"/>
          <p:cNvSpPr txBox="1"/>
          <p:nvPr/>
        </p:nvSpPr>
        <p:spPr>
          <a:xfrm>
            <a:off x="548640" y="1143000"/>
            <a:ext cx="54864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Delehylla i dag</a:t>
            </a:r>
            <a:endParaRPr lang="en-US" sz="4000" dirty="0"/>
          </a:p>
        </p:txBody>
      </p:sp>
      <p:pic>
        <p:nvPicPr>
          <p:cNvPr id="9" name="!!c1_3" descr="/tmp/deck/a/led-1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240280"/>
            <a:ext cx="1431421" cy="1143000"/>
          </a:xfrm>
          <a:prstGeom prst="rect">
            <a:avLst/>
          </a:prstGeom>
        </p:spPr>
      </p:pic>
      <p:sp>
        <p:nvSpPr>
          <p:cNvPr id="10" name="!!c1_4"/>
          <p:cNvSpPr txBox="1"/>
          <p:nvPr/>
        </p:nvSpPr>
        <p:spPr>
          <a:xfrm>
            <a:off x="54864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kabinetter</a:t>
            </a:r>
            <a:endParaRPr lang="en-US" sz="1800" dirty="0"/>
          </a:p>
        </p:txBody>
      </p:sp>
      <p:pic>
        <p:nvPicPr>
          <p:cNvPr id="11" name="!!c1_5" descr="/tmp/deck/a/led-49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7440" y="2240280"/>
            <a:ext cx="2088379" cy="1143000"/>
          </a:xfrm>
          <a:prstGeom prst="rect">
            <a:avLst/>
          </a:prstGeom>
        </p:spPr>
      </p:pic>
      <p:sp>
        <p:nvSpPr>
          <p:cNvPr id="12" name="!!c1_6"/>
          <p:cNvSpPr txBox="1"/>
          <p:nvPr/>
        </p:nvSpPr>
        <p:spPr>
          <a:xfrm>
            <a:off x="237744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skuffer</a:t>
            </a:r>
            <a:endParaRPr lang="en-US" sz="1800" dirty="0"/>
          </a:p>
        </p:txBody>
      </p:sp>
      <p:sp>
        <p:nvSpPr>
          <p:cNvPr id="13" name="!!c1_7"/>
          <p:cNvSpPr txBox="1"/>
          <p:nvPr/>
        </p:nvSpPr>
        <p:spPr>
          <a:xfrm>
            <a:off x="548640" y="42062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vet sikkert hva som er på lager, eller hva som er betalt. Frivillige oppdager at noe er tomt når det allerede er tomt.</a:t>
            </a:r>
            <a:endParaRPr lang="en-US" sz="2000" dirty="0"/>
          </a:p>
        </p:txBody>
      </p:sp>
      <p:pic>
        <p:nvPicPr>
          <p:cNvPr id="14" name="!!c0_0" descr="/tmp/deck/a/photo-storefront.jpg">    </p:cNvPr>
          <p:cNvPicPr>
            <a:picLocks noChangeAspect="1"/>
          </p:cNvPicPr>
          <p:nvPr/>
        </p:nvPicPr>
        <p:blipFill>
          <a:blip r:embed="rId8">
            <a:alphaModFix amt="18000"/>
          </a:blip>
          <a:stretch>
            <a:fillRect/>
          </a:stretch>
        </p:blipFill>
        <p:spPr>
          <a:xfrm>
            <a:off x="0" y="-7406640"/>
            <a:ext cx="12191695" cy="6858000"/>
          </a:xfrm>
          <a:prstGeom prst="rect">
            <a:avLst/>
          </a:prstGeom>
        </p:spPr>
      </p:pic>
      <p:pic>
        <p:nvPicPr>
          <p:cNvPr id="15" name="!!c0_1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21128" y="-1826300"/>
            <a:ext cx="6949440" cy="1277660"/>
          </a:xfrm>
          <a:prstGeom prst="rect">
            <a:avLst/>
          </a:prstGeom>
        </p:spPr>
      </p:pic>
      <p:sp>
        <p:nvSpPr>
          <p:cNvPr id="16" name="!!c0_2"/>
          <p:cNvSpPr txBox="1"/>
          <p:nvPr/>
        </p:nvSpPr>
        <p:spPr>
          <a:xfrm>
            <a:off x="914400" y="74066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Selvbetjent delebutikk og lagersystem for verkstedet</a:t>
            </a:r>
            <a:endParaRPr lang="en-US" sz="2600" dirty="0"/>
          </a:p>
        </p:txBody>
      </p:sp>
      <p:sp>
        <p:nvSpPr>
          <p:cNvPr id="17" name="!!c0_3"/>
          <p:cNvSpPr txBox="1"/>
          <p:nvPr/>
        </p:nvSpPr>
        <p:spPr>
          <a:xfrm>
            <a:off x="914400" y="74066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ampoteket.no  ·  Pilestredet 35  ·  1. oktober 2026</a:t>
            </a:r>
            <a:endParaRPr lang="en-US" sz="1500" dirty="0"/>
          </a:p>
        </p:txBody>
      </p:sp>
      <p:sp>
        <p:nvSpPr>
          <p:cNvPr id="18" name="!!c2_0"/>
          <p:cNvSpPr txBox="1"/>
          <p:nvPr/>
        </p:nvSpPr>
        <p:spPr>
          <a:xfrm>
            <a:off x="548640" y="-1869440"/>
            <a:ext cx="420624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digitalt speil av hylla</a:t>
            </a:r>
            <a:endParaRPr lang="en-US" sz="4000" dirty="0"/>
          </a:p>
        </p:txBody>
      </p:sp>
      <p:pic>
        <p:nvPicPr>
          <p:cNvPr id="19" name="!!c2_1" descr="/tmp/deck/a/led-1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407492" y="2606040"/>
            <a:ext cx="858852" cy="685800"/>
          </a:xfrm>
          <a:prstGeom prst="rect">
            <a:avLst/>
          </a:prstGeom>
        </p:spPr>
      </p:pic>
      <p:sp>
        <p:nvSpPr>
          <p:cNvPr id="20" name="!!c2_2"/>
          <p:cNvSpPr txBox="1"/>
          <p:nvPr/>
        </p:nvSpPr>
        <p:spPr>
          <a:xfrm>
            <a:off x="-2011680" y="3337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kabinetter</a:t>
            </a:r>
            <a:endParaRPr lang="en-US" sz="1500" dirty="0"/>
          </a:p>
        </p:txBody>
      </p:sp>
      <p:pic>
        <p:nvPicPr>
          <p:cNvPr id="21" name="!!c2_3" descr="/tmp/deck/a/led-492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801667" y="2606040"/>
            <a:ext cx="1253027" cy="685800"/>
          </a:xfrm>
          <a:prstGeom prst="rect">
            <a:avLst/>
          </a:prstGeom>
        </p:spPr>
      </p:pic>
      <p:sp>
        <p:nvSpPr>
          <p:cNvPr id="22" name="!!c2_4"/>
          <p:cNvSpPr txBox="1"/>
          <p:nvPr/>
        </p:nvSpPr>
        <p:spPr>
          <a:xfrm>
            <a:off x="-2011680" y="3337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skuffer</a:t>
            </a:r>
            <a:endParaRPr lang="en-US" sz="1500" dirty="0"/>
          </a:p>
        </p:txBody>
      </p:sp>
      <p:sp>
        <p:nvSpPr>
          <p:cNvPr id="23" name="!!c2_5"/>
          <p:cNvSpPr txBox="1"/>
          <p:nvPr/>
        </p:nvSpPr>
        <p:spPr>
          <a:xfrm>
            <a:off x="548640" y="74066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Lagersystemet vet hvor hver del ligger og hvor mye som er igjen.</a:t>
            </a:r>
            <a:endParaRPr lang="en-US" sz="1800" dirty="0"/>
          </a:p>
        </p:txBody>
      </p:sp>
      <p:pic>
        <p:nvPicPr>
          <p:cNvPr id="24" name="!!shelf-cabA2" descr="/tmp/deck/a/cabinet-8x3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74920" y="-2187245"/>
            <a:ext cx="1024128" cy="1638605"/>
          </a:xfrm>
          <a:prstGeom prst="rect">
            <a:avLst/>
          </a:prstGeom>
        </p:spPr>
      </p:pic>
      <p:sp>
        <p:nvSpPr>
          <p:cNvPr id="25" name="!!shelf-chipA2"/>
          <p:cNvSpPr txBox="1"/>
          <p:nvPr/>
        </p:nvSpPr>
        <p:spPr>
          <a:xfrm>
            <a:off x="5330952" y="-804672"/>
            <a:ext cx="512064" cy="204826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120" dirty="0"/>
          </a:p>
        </p:txBody>
      </p:sp>
      <p:pic>
        <p:nvPicPr>
          <p:cNvPr id="26" name="!!shelf-cabA1" descr="/tmp/deck/a/cabine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74920" y="7406640"/>
            <a:ext cx="1024128" cy="1638605"/>
          </a:xfrm>
          <a:prstGeom prst="rect">
            <a:avLst/>
          </a:prstGeom>
        </p:spPr>
      </p:pic>
      <p:sp>
        <p:nvSpPr>
          <p:cNvPr id="27" name="!!shelf-chipA1"/>
          <p:cNvSpPr txBox="1"/>
          <p:nvPr/>
        </p:nvSpPr>
        <p:spPr>
          <a:xfrm>
            <a:off x="5330952" y="8789213"/>
            <a:ext cx="512064" cy="204826"/>
          </a:xfrm>
          <a:prstGeom prst="roundRect">
            <a:avLst>
              <a:gd name="adj" fmla="val 50000"/>
            </a:avLst>
          </a:prstGeom>
          <a:solidFill>
            <a:srgbClr val="FF3C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120" dirty="0"/>
          </a:p>
        </p:txBody>
      </p:sp>
      <p:pic>
        <p:nvPicPr>
          <p:cNvPr id="28" name="!!shelf-cabB2" descr="/tmp/deck/a/cabinet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80978" y="-2187245"/>
            <a:ext cx="1024128" cy="1638605"/>
          </a:xfrm>
          <a:prstGeom prst="rect">
            <a:avLst/>
          </a:prstGeom>
        </p:spPr>
      </p:pic>
      <p:sp>
        <p:nvSpPr>
          <p:cNvPr id="29" name="!!shelf-chipB2"/>
          <p:cNvSpPr txBox="1"/>
          <p:nvPr/>
        </p:nvSpPr>
        <p:spPr>
          <a:xfrm>
            <a:off x="6437010" y="-804672"/>
            <a:ext cx="512064" cy="204826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120" dirty="0"/>
          </a:p>
        </p:txBody>
      </p:sp>
      <p:pic>
        <p:nvPicPr>
          <p:cNvPr id="30" name="!!shelf-cabB1" descr="/tmp/deck/a/cabinet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80978" y="7406640"/>
            <a:ext cx="1024128" cy="1638605"/>
          </a:xfrm>
          <a:prstGeom prst="rect">
            <a:avLst/>
          </a:prstGeom>
        </p:spPr>
      </p:pic>
      <p:sp>
        <p:nvSpPr>
          <p:cNvPr id="31" name="!!shelf-chipB1"/>
          <p:cNvSpPr txBox="1"/>
          <p:nvPr/>
        </p:nvSpPr>
        <p:spPr>
          <a:xfrm>
            <a:off x="6437010" y="8789213"/>
            <a:ext cx="512064" cy="204826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120" dirty="0"/>
          </a:p>
        </p:txBody>
      </p:sp>
      <p:pic>
        <p:nvPicPr>
          <p:cNvPr id="32" name="!!shelf-cabC2" descr="/tmp/deck/a/cabinet-C2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87036" y="-2187245"/>
            <a:ext cx="1024128" cy="1638605"/>
          </a:xfrm>
          <a:prstGeom prst="rect">
            <a:avLst/>
          </a:prstGeom>
        </p:spPr>
      </p:pic>
      <p:sp>
        <p:nvSpPr>
          <p:cNvPr id="33" name="!!shelf-chipC2"/>
          <p:cNvSpPr txBox="1"/>
          <p:nvPr/>
        </p:nvSpPr>
        <p:spPr>
          <a:xfrm>
            <a:off x="7543068" y="-804672"/>
            <a:ext cx="512064" cy="204826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120" dirty="0"/>
          </a:p>
        </p:txBody>
      </p:sp>
      <p:pic>
        <p:nvPicPr>
          <p:cNvPr id="34" name="!!shelf-cabC1" descr="/tmp/deck/a/cabinet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87036" y="7406640"/>
            <a:ext cx="1024128" cy="1638605"/>
          </a:xfrm>
          <a:prstGeom prst="rect">
            <a:avLst/>
          </a:prstGeom>
        </p:spPr>
      </p:pic>
      <p:sp>
        <p:nvSpPr>
          <p:cNvPr id="35" name="!!shelf-chipC1"/>
          <p:cNvSpPr txBox="1"/>
          <p:nvPr/>
        </p:nvSpPr>
        <p:spPr>
          <a:xfrm>
            <a:off x="7543068" y="8789213"/>
            <a:ext cx="512064" cy="204826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120" dirty="0"/>
          </a:p>
        </p:txBody>
      </p:sp>
      <p:pic>
        <p:nvPicPr>
          <p:cNvPr id="36" name="!!shelf-cabD2" descr="/tmp/deck/a/cabinet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93095" y="-2187245"/>
            <a:ext cx="1024128" cy="1638605"/>
          </a:xfrm>
          <a:prstGeom prst="rect">
            <a:avLst/>
          </a:prstGeom>
        </p:spPr>
      </p:pic>
      <p:sp>
        <p:nvSpPr>
          <p:cNvPr id="37" name="!!shelf-chipD2"/>
          <p:cNvSpPr txBox="1"/>
          <p:nvPr/>
        </p:nvSpPr>
        <p:spPr>
          <a:xfrm>
            <a:off x="8649127" y="-804672"/>
            <a:ext cx="512064" cy="204826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120" dirty="0"/>
          </a:p>
        </p:txBody>
      </p:sp>
      <p:pic>
        <p:nvPicPr>
          <p:cNvPr id="38" name="!!shelf-cabD1" descr="/tmp/deck/a/cabinet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93095" y="7406640"/>
            <a:ext cx="1024128" cy="1638605"/>
          </a:xfrm>
          <a:prstGeom prst="rect">
            <a:avLst/>
          </a:prstGeom>
        </p:spPr>
      </p:pic>
      <p:sp>
        <p:nvSpPr>
          <p:cNvPr id="39" name="!!shelf-chipD1"/>
          <p:cNvSpPr txBox="1"/>
          <p:nvPr/>
        </p:nvSpPr>
        <p:spPr>
          <a:xfrm>
            <a:off x="8649127" y="8789213"/>
            <a:ext cx="512064" cy="204826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120" dirty="0"/>
          </a:p>
        </p:txBody>
      </p:sp>
      <p:pic>
        <p:nvPicPr>
          <p:cNvPr id="40" name="!!shelf-cabE2" descr="/tmp/deck/a/cabinet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740335" y="1691640"/>
            <a:ext cx="1024128" cy="1638605"/>
          </a:xfrm>
          <a:prstGeom prst="rect">
            <a:avLst/>
          </a:prstGeom>
        </p:spPr>
      </p:pic>
      <p:sp>
        <p:nvSpPr>
          <p:cNvPr id="41" name="!!shelf-chipE2"/>
          <p:cNvSpPr txBox="1"/>
          <p:nvPr/>
        </p:nvSpPr>
        <p:spPr>
          <a:xfrm>
            <a:off x="12996367" y="3074213"/>
            <a:ext cx="512064" cy="204826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120" dirty="0"/>
          </a:p>
        </p:txBody>
      </p:sp>
      <p:pic>
        <p:nvPicPr>
          <p:cNvPr id="42" name="!!shelf-cabE1" descr="/tmp/deck/a/cabinet-8x3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740335" y="3412175"/>
            <a:ext cx="1024128" cy="1638605"/>
          </a:xfrm>
          <a:prstGeom prst="rect">
            <a:avLst/>
          </a:prstGeom>
        </p:spPr>
      </p:pic>
      <p:sp>
        <p:nvSpPr>
          <p:cNvPr id="43" name="!!shelf-chipE1"/>
          <p:cNvSpPr txBox="1"/>
          <p:nvPr/>
        </p:nvSpPr>
        <p:spPr>
          <a:xfrm>
            <a:off x="12996367" y="4794748"/>
            <a:ext cx="512064" cy="204826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1120" dirty="0"/>
          </a:p>
        </p:txBody>
      </p:sp>
      <p:pic>
        <p:nvPicPr>
          <p:cNvPr id="44" name="!!shelf-cabF2" descr="/tmp/deck/a/cabinet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740335" y="1691640"/>
            <a:ext cx="1024128" cy="1638605"/>
          </a:xfrm>
          <a:prstGeom prst="rect">
            <a:avLst/>
          </a:prstGeom>
        </p:spPr>
      </p:pic>
      <p:sp>
        <p:nvSpPr>
          <p:cNvPr id="45" name="!!shelf-chipF2"/>
          <p:cNvSpPr txBox="1"/>
          <p:nvPr/>
        </p:nvSpPr>
        <p:spPr>
          <a:xfrm>
            <a:off x="12996367" y="3074213"/>
            <a:ext cx="512064" cy="204826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120" dirty="0"/>
          </a:p>
        </p:txBody>
      </p:sp>
      <p:pic>
        <p:nvPicPr>
          <p:cNvPr id="46" name="!!shelf-cabF1" descr="/tmp/deck/a/cabinet-8x3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740335" y="3412175"/>
            <a:ext cx="1024128" cy="1638605"/>
          </a:xfrm>
          <a:prstGeom prst="rect">
            <a:avLst/>
          </a:prstGeom>
        </p:spPr>
      </p:pic>
      <p:sp>
        <p:nvSpPr>
          <p:cNvPr id="47" name="!!shelf-chipF1"/>
          <p:cNvSpPr txBox="1"/>
          <p:nvPr/>
        </p:nvSpPr>
        <p:spPr>
          <a:xfrm>
            <a:off x="12996367" y="4794748"/>
            <a:ext cx="512064" cy="204826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20" dirty="0"/>
          </a:p>
        </p:txBody>
      </p:sp>
      <p:sp>
        <p:nvSpPr>
          <p:cNvPr id="48" name="!!shelf-drawer"/>
          <p:cNvSpPr/>
          <p:nvPr/>
        </p:nvSpPr>
        <p:spPr>
          <a:xfrm>
            <a:off x="5109740" y="7572754"/>
            <a:ext cx="234013" cy="125148"/>
          </a:xfrm>
          <a:prstGeom prst="roundRect">
            <a:avLst>
              <a:gd name="adj" fmla="val 9820"/>
            </a:avLst>
          </a:prstGeom>
          <a:solidFill>
            <a:srgbClr val="FF3C33">
              <a:alpha val="30000"/>
            </a:srgbClr>
          </a:solidFill>
          <a:ln w="31750">
            <a:solidFill>
              <a:srgbClr val="FF3C33"/>
            </a:solidFill>
            <a:prstDash val="solid"/>
          </a:ln>
          <a:effectLst>
            <a:outerShdw sx="100000" sy="100000" kx="0" ky="0" algn="bl" rotWithShape="0" blurRad="228600" dist="50800" dir="5400000">
              <a:srgbClr val="FF3C33">
                <a:alpha val="80000"/>
              </a:srgbClr>
            </a:outerShdw>
          </a:effectLst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orbR" descr="/tmp/deck/a/orb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194560" y="3474720"/>
            <a:ext cx="5486400" cy="5486400"/>
          </a:xfrm>
          <a:prstGeom prst="rect">
            <a:avLst/>
          </a:prstGeom>
        </p:spPr>
      </p:pic>
      <p:pic>
        <p:nvPicPr>
          <p:cNvPr id="4" name="!!orbG" descr="/tmp/deck/a/orb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-2377440"/>
            <a:ext cx="5943600" cy="5943600"/>
          </a:xfrm>
          <a:prstGeom prst="rect">
            <a:avLst/>
          </a:prstGeom>
        </p:spPr>
      </p:pic>
      <p:pic>
        <p:nvPicPr>
          <p:cNvPr id="5" name="!!log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1600200" cy="294198"/>
          </a:xfrm>
          <a:prstGeom prst="rect">
            <a:avLst/>
          </a:prstGeom>
        </p:spPr>
      </p:pic>
      <p:sp>
        <p:nvSpPr>
          <p:cNvPr id="6" name="!!c2_0"/>
          <p:cNvSpPr txBox="1"/>
          <p:nvPr/>
        </p:nvSpPr>
        <p:spPr>
          <a:xfrm>
            <a:off x="548640" y="1143000"/>
            <a:ext cx="420624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digitalt speil av hylla</a:t>
            </a:r>
            <a:endParaRPr lang="en-US" sz="4000" dirty="0"/>
          </a:p>
        </p:txBody>
      </p:sp>
      <p:pic>
        <p:nvPicPr>
          <p:cNvPr id="7" name="!!c2_1" descr="/tmp/deck/a/led-1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06040"/>
            <a:ext cx="858852" cy="685800"/>
          </a:xfrm>
          <a:prstGeom prst="rect">
            <a:avLst/>
          </a:prstGeom>
        </p:spPr>
      </p:pic>
      <p:sp>
        <p:nvSpPr>
          <p:cNvPr id="8" name="!!c2_2"/>
          <p:cNvSpPr txBox="1"/>
          <p:nvPr/>
        </p:nvSpPr>
        <p:spPr>
          <a:xfrm>
            <a:off x="548640" y="3337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kabinetter</a:t>
            </a:r>
            <a:endParaRPr lang="en-US" sz="1500" dirty="0"/>
          </a:p>
        </p:txBody>
      </p:sp>
      <p:pic>
        <p:nvPicPr>
          <p:cNvPr id="9" name="!!c2_3" descr="/tmp/deck/a/led-49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606040"/>
            <a:ext cx="1253027" cy="685800"/>
          </a:xfrm>
          <a:prstGeom prst="rect">
            <a:avLst/>
          </a:prstGeom>
        </p:spPr>
      </p:pic>
      <p:sp>
        <p:nvSpPr>
          <p:cNvPr id="10" name="!!c2_4"/>
          <p:cNvSpPr txBox="1"/>
          <p:nvPr/>
        </p:nvSpPr>
        <p:spPr>
          <a:xfrm>
            <a:off x="1783080" y="3337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skuffer</a:t>
            </a:r>
            <a:endParaRPr lang="en-US" sz="1500" dirty="0"/>
          </a:p>
        </p:txBody>
      </p:sp>
      <p:sp>
        <p:nvSpPr>
          <p:cNvPr id="11" name="!!c2_5"/>
          <p:cNvSpPr txBox="1"/>
          <p:nvPr/>
        </p:nvSpPr>
        <p:spPr>
          <a:xfrm>
            <a:off x="548640" y="39776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Lagersystemet vet hvor hver del ligger og hvor mye som er igjen.</a:t>
            </a:r>
            <a:endParaRPr lang="en-US" sz="1800" dirty="0"/>
          </a:p>
        </p:txBody>
      </p:sp>
      <p:pic>
        <p:nvPicPr>
          <p:cNvPr id="12" name="!!shelf-cabA2" descr="/tmp/deck/a/cabinet-8x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1691640"/>
            <a:ext cx="1024128" cy="1638605"/>
          </a:xfrm>
          <a:prstGeom prst="rect">
            <a:avLst/>
          </a:prstGeom>
        </p:spPr>
      </p:pic>
      <p:sp>
        <p:nvSpPr>
          <p:cNvPr id="13" name="!!shelf-chipA2"/>
          <p:cNvSpPr txBox="1"/>
          <p:nvPr/>
        </p:nvSpPr>
        <p:spPr>
          <a:xfrm>
            <a:off x="5330952" y="3074213"/>
            <a:ext cx="512064" cy="204826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120" dirty="0"/>
          </a:p>
        </p:txBody>
      </p:sp>
      <p:pic>
        <p:nvPicPr>
          <p:cNvPr id="14" name="!!shelf-cabA1" descr="/tmp/deck/a/cabin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3412175"/>
            <a:ext cx="1024128" cy="1638605"/>
          </a:xfrm>
          <a:prstGeom prst="rect">
            <a:avLst/>
          </a:prstGeom>
        </p:spPr>
      </p:pic>
      <p:sp>
        <p:nvSpPr>
          <p:cNvPr id="15" name="!!shelf-chipA1"/>
          <p:cNvSpPr txBox="1"/>
          <p:nvPr/>
        </p:nvSpPr>
        <p:spPr>
          <a:xfrm>
            <a:off x="5330952" y="4794748"/>
            <a:ext cx="512064" cy="204826"/>
          </a:xfrm>
          <a:prstGeom prst="roundRect">
            <a:avLst>
              <a:gd name="adj" fmla="val 50000"/>
            </a:avLst>
          </a:prstGeom>
          <a:solidFill>
            <a:srgbClr val="FF3C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120" dirty="0"/>
          </a:p>
        </p:txBody>
      </p:sp>
      <p:pic>
        <p:nvPicPr>
          <p:cNvPr id="16" name="!!shelf-cabB2" descr="/tmp/deck/a/cabine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0978" y="1691640"/>
            <a:ext cx="1024128" cy="1638605"/>
          </a:xfrm>
          <a:prstGeom prst="rect">
            <a:avLst/>
          </a:prstGeom>
        </p:spPr>
      </p:pic>
      <p:sp>
        <p:nvSpPr>
          <p:cNvPr id="17" name="!!shelf-chipB2"/>
          <p:cNvSpPr txBox="1"/>
          <p:nvPr/>
        </p:nvSpPr>
        <p:spPr>
          <a:xfrm>
            <a:off x="6437010" y="3074213"/>
            <a:ext cx="512064" cy="204826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120" dirty="0"/>
          </a:p>
        </p:txBody>
      </p:sp>
      <p:pic>
        <p:nvPicPr>
          <p:cNvPr id="18" name="!!shelf-cabB1" descr="/tmp/deck/a/cabine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0978" y="3412175"/>
            <a:ext cx="1024128" cy="1638605"/>
          </a:xfrm>
          <a:prstGeom prst="rect">
            <a:avLst/>
          </a:prstGeom>
        </p:spPr>
      </p:pic>
      <p:sp>
        <p:nvSpPr>
          <p:cNvPr id="19" name="!!shelf-chipB1"/>
          <p:cNvSpPr txBox="1"/>
          <p:nvPr/>
        </p:nvSpPr>
        <p:spPr>
          <a:xfrm>
            <a:off x="6437010" y="4794748"/>
            <a:ext cx="512064" cy="204826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120" dirty="0"/>
          </a:p>
        </p:txBody>
      </p:sp>
      <p:pic>
        <p:nvPicPr>
          <p:cNvPr id="20" name="!!shelf-cabC2" descr="/tmp/deck/a/cabinet-C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7036" y="1691640"/>
            <a:ext cx="1024128" cy="1638605"/>
          </a:xfrm>
          <a:prstGeom prst="rect">
            <a:avLst/>
          </a:prstGeom>
        </p:spPr>
      </p:pic>
      <p:sp>
        <p:nvSpPr>
          <p:cNvPr id="21" name="!!shelf-chipC2"/>
          <p:cNvSpPr txBox="1"/>
          <p:nvPr/>
        </p:nvSpPr>
        <p:spPr>
          <a:xfrm>
            <a:off x="7543068" y="3074213"/>
            <a:ext cx="512064" cy="204826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120" dirty="0"/>
          </a:p>
        </p:txBody>
      </p:sp>
      <p:pic>
        <p:nvPicPr>
          <p:cNvPr id="22" name="!!shelf-cabC1" descr="/tmp/deck/a/cabine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87036" y="3412175"/>
            <a:ext cx="1024128" cy="1638605"/>
          </a:xfrm>
          <a:prstGeom prst="rect">
            <a:avLst/>
          </a:prstGeom>
        </p:spPr>
      </p:pic>
      <p:sp>
        <p:nvSpPr>
          <p:cNvPr id="23" name="!!shelf-chipC1"/>
          <p:cNvSpPr txBox="1"/>
          <p:nvPr/>
        </p:nvSpPr>
        <p:spPr>
          <a:xfrm>
            <a:off x="7543068" y="4794748"/>
            <a:ext cx="512064" cy="204826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120" dirty="0"/>
          </a:p>
        </p:txBody>
      </p:sp>
      <p:pic>
        <p:nvPicPr>
          <p:cNvPr id="24" name="!!shelf-cabD2" descr="/tmp/deck/a/cabine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93095" y="1691640"/>
            <a:ext cx="1024128" cy="1638605"/>
          </a:xfrm>
          <a:prstGeom prst="rect">
            <a:avLst/>
          </a:prstGeom>
        </p:spPr>
      </p:pic>
      <p:sp>
        <p:nvSpPr>
          <p:cNvPr id="25" name="!!shelf-chipD2"/>
          <p:cNvSpPr txBox="1"/>
          <p:nvPr/>
        </p:nvSpPr>
        <p:spPr>
          <a:xfrm>
            <a:off x="8649127" y="3074213"/>
            <a:ext cx="512064" cy="204826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120" dirty="0"/>
          </a:p>
        </p:txBody>
      </p:sp>
      <p:pic>
        <p:nvPicPr>
          <p:cNvPr id="26" name="!!shelf-cabD1" descr="/tmp/deck/a/cabine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93095" y="3412175"/>
            <a:ext cx="1024128" cy="1638605"/>
          </a:xfrm>
          <a:prstGeom prst="rect">
            <a:avLst/>
          </a:prstGeom>
        </p:spPr>
      </p:pic>
      <p:sp>
        <p:nvSpPr>
          <p:cNvPr id="27" name="!!shelf-chipD1"/>
          <p:cNvSpPr txBox="1"/>
          <p:nvPr/>
        </p:nvSpPr>
        <p:spPr>
          <a:xfrm>
            <a:off x="8649127" y="4794748"/>
            <a:ext cx="512064" cy="204826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120" dirty="0"/>
          </a:p>
        </p:txBody>
      </p:sp>
      <p:pic>
        <p:nvPicPr>
          <p:cNvPr id="28" name="!!shelf-cabE2" descr="/tmp/deck/a/cabinet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99153" y="1691640"/>
            <a:ext cx="1024128" cy="1638605"/>
          </a:xfrm>
          <a:prstGeom prst="rect">
            <a:avLst/>
          </a:prstGeom>
        </p:spPr>
      </p:pic>
      <p:sp>
        <p:nvSpPr>
          <p:cNvPr id="29" name="!!shelf-chipE2"/>
          <p:cNvSpPr txBox="1"/>
          <p:nvPr/>
        </p:nvSpPr>
        <p:spPr>
          <a:xfrm>
            <a:off x="9755185" y="3074213"/>
            <a:ext cx="512064" cy="204826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120" dirty="0"/>
          </a:p>
        </p:txBody>
      </p:sp>
      <p:pic>
        <p:nvPicPr>
          <p:cNvPr id="30" name="!!shelf-cabE1" descr="/tmp/deck/a/cabinet-8x3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99153" y="3412175"/>
            <a:ext cx="1024128" cy="1638605"/>
          </a:xfrm>
          <a:prstGeom prst="rect">
            <a:avLst/>
          </a:prstGeom>
        </p:spPr>
      </p:pic>
      <p:sp>
        <p:nvSpPr>
          <p:cNvPr id="31" name="!!shelf-chipE1"/>
          <p:cNvSpPr txBox="1"/>
          <p:nvPr/>
        </p:nvSpPr>
        <p:spPr>
          <a:xfrm>
            <a:off x="9755185" y="4794748"/>
            <a:ext cx="512064" cy="204826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1120" dirty="0"/>
          </a:p>
        </p:txBody>
      </p:sp>
      <p:pic>
        <p:nvPicPr>
          <p:cNvPr id="32" name="!!shelf-cabF2" descr="/tmp/deck/a/cabinet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05211" y="1691640"/>
            <a:ext cx="1024128" cy="1638605"/>
          </a:xfrm>
          <a:prstGeom prst="rect">
            <a:avLst/>
          </a:prstGeom>
        </p:spPr>
      </p:pic>
      <p:sp>
        <p:nvSpPr>
          <p:cNvPr id="33" name="!!shelf-chipF2"/>
          <p:cNvSpPr txBox="1"/>
          <p:nvPr/>
        </p:nvSpPr>
        <p:spPr>
          <a:xfrm>
            <a:off x="10861243" y="3074213"/>
            <a:ext cx="512064" cy="204826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120" dirty="0"/>
          </a:p>
        </p:txBody>
      </p:sp>
      <p:pic>
        <p:nvPicPr>
          <p:cNvPr id="34" name="!!shelf-cabF1" descr="/tmp/deck/a/cabinet-8x3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05211" y="3412175"/>
            <a:ext cx="1024128" cy="1638605"/>
          </a:xfrm>
          <a:prstGeom prst="rect">
            <a:avLst/>
          </a:prstGeom>
        </p:spPr>
      </p:pic>
      <p:sp>
        <p:nvSpPr>
          <p:cNvPr id="35" name="!!shelf-chipF1"/>
          <p:cNvSpPr txBox="1"/>
          <p:nvPr/>
        </p:nvSpPr>
        <p:spPr>
          <a:xfrm>
            <a:off x="10861243" y="4794748"/>
            <a:ext cx="512064" cy="204826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20" dirty="0"/>
          </a:p>
        </p:txBody>
      </p:sp>
      <p:sp>
        <p:nvSpPr>
          <p:cNvPr id="36" name="!!shelf-drawer"/>
          <p:cNvSpPr/>
          <p:nvPr/>
        </p:nvSpPr>
        <p:spPr>
          <a:xfrm>
            <a:off x="5109740" y="3578289"/>
            <a:ext cx="234013" cy="125148"/>
          </a:xfrm>
          <a:prstGeom prst="roundRect">
            <a:avLst>
              <a:gd name="adj" fmla="val 9820"/>
            </a:avLst>
          </a:prstGeom>
          <a:solidFill>
            <a:srgbClr val="FF3C33">
              <a:alpha val="30000"/>
            </a:srgbClr>
          </a:solidFill>
          <a:ln w="31750">
            <a:solidFill>
              <a:srgbClr val="FF3C33"/>
            </a:solidFill>
            <a:prstDash val="solid"/>
          </a:ln>
          <a:effectLst>
            <a:outerShdw sx="100000" sy="100000" kx="0" ky="0" algn="bl" rotWithShape="0" blurRad="228600" dist="50800" dir="5400000">
              <a:srgbClr val="FF3C33">
                <a:alpha val="80000"/>
              </a:srgbClr>
            </a:outerShdw>
          </a:effectLst>
        </p:spPr>
      </p:sp>
      <p:pic>
        <p:nvPicPr>
          <p:cNvPr id="37" name="!!c1_0" descr="/tmp/deck/a/photo-drawers.jp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-7406640"/>
            <a:ext cx="12191695" cy="6858000"/>
          </a:xfrm>
          <a:prstGeom prst="rect">
            <a:avLst/>
          </a:prstGeom>
        </p:spPr>
      </p:pic>
      <p:pic>
        <p:nvPicPr>
          <p:cNvPr id="38" name="!!c1_1" descr="/tmp/deck/a/fade-left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-7406640"/>
            <a:ext cx="12191695" cy="6858000"/>
          </a:xfrm>
          <a:prstGeom prst="rect">
            <a:avLst/>
          </a:prstGeom>
        </p:spPr>
      </p:pic>
      <p:sp>
        <p:nvSpPr>
          <p:cNvPr id="39" name="!!c1_2"/>
          <p:cNvSpPr txBox="1"/>
          <p:nvPr/>
        </p:nvSpPr>
        <p:spPr>
          <a:xfrm>
            <a:off x="548640" y="-1869440"/>
            <a:ext cx="54864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Delehylla i dag</a:t>
            </a:r>
            <a:endParaRPr lang="en-US" sz="4000" dirty="0"/>
          </a:p>
        </p:txBody>
      </p:sp>
      <p:pic>
        <p:nvPicPr>
          <p:cNvPr id="40" name="!!c1_3" descr="/tmp/deck/a/led-12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-1980061" y="2240280"/>
            <a:ext cx="1431421" cy="1143000"/>
          </a:xfrm>
          <a:prstGeom prst="rect">
            <a:avLst/>
          </a:prstGeom>
        </p:spPr>
      </p:pic>
      <p:sp>
        <p:nvSpPr>
          <p:cNvPr id="41" name="!!c1_4"/>
          <p:cNvSpPr txBox="1"/>
          <p:nvPr/>
        </p:nvSpPr>
        <p:spPr>
          <a:xfrm>
            <a:off x="-237744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kabinetter</a:t>
            </a:r>
            <a:endParaRPr lang="en-US" sz="1800" dirty="0"/>
          </a:p>
        </p:txBody>
      </p:sp>
      <p:pic>
        <p:nvPicPr>
          <p:cNvPr id="42" name="!!c1_5" descr="/tmp/deck/a/led-492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77440" y="-1691640"/>
            <a:ext cx="2088379" cy="1143000"/>
          </a:xfrm>
          <a:prstGeom prst="rect">
            <a:avLst/>
          </a:prstGeom>
        </p:spPr>
      </p:pic>
      <p:sp>
        <p:nvSpPr>
          <p:cNvPr id="43" name="!!c1_6"/>
          <p:cNvSpPr txBox="1"/>
          <p:nvPr/>
        </p:nvSpPr>
        <p:spPr>
          <a:xfrm>
            <a:off x="2377440" y="-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skuffer</a:t>
            </a:r>
            <a:endParaRPr lang="en-US" sz="1800" dirty="0"/>
          </a:p>
        </p:txBody>
      </p:sp>
      <p:sp>
        <p:nvSpPr>
          <p:cNvPr id="44" name="!!c1_7"/>
          <p:cNvSpPr txBox="1"/>
          <p:nvPr/>
        </p:nvSpPr>
        <p:spPr>
          <a:xfrm>
            <a:off x="548640" y="74066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vet sikkert hva som er på lager, eller hva som er betalt. Frivillige oppdager at noe er tomt når det allerede er tomt.</a:t>
            </a:r>
            <a:endParaRPr lang="en-US" sz="2000" dirty="0"/>
          </a:p>
        </p:txBody>
      </p:sp>
      <p:sp>
        <p:nvSpPr>
          <p:cNvPr id="45" name="!!c3_0"/>
          <p:cNvSpPr txBox="1"/>
          <p:nvPr/>
        </p:nvSpPr>
        <p:spPr>
          <a:xfrm>
            <a:off x="548640" y="-1869440"/>
            <a:ext cx="512064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Hver skuff har sin egen lapp</a:t>
            </a:r>
            <a:endParaRPr lang="en-US" sz="4000" dirty="0"/>
          </a:p>
        </p:txBody>
      </p:sp>
      <p:sp>
        <p:nvSpPr>
          <p:cNvPr id="46" name="!!c3_1"/>
          <p:cNvSpPr txBox="1"/>
          <p:nvPr/>
        </p:nvSpPr>
        <p:spPr>
          <a:xfrm>
            <a:off x="-5303520" y="26974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QR-koden åpner bare delens side. Pris og beholdning hentes alltid fra lageret, så lappen blir aldri utdatert.</a:t>
            </a:r>
            <a:endParaRPr lang="en-US" sz="1800" dirty="0"/>
          </a:p>
        </p:txBody>
      </p:sp>
      <p:sp>
        <p:nvSpPr>
          <p:cNvPr id="47" name="!!c3_2"/>
          <p:cNvSpPr/>
          <p:nvPr/>
        </p:nvSpPr>
        <p:spPr>
          <a:xfrm>
            <a:off x="548640" y="7406640"/>
            <a:ext cx="448056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8" name="!!c3_3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77240" y="7635240"/>
            <a:ext cx="1234440" cy="1234440"/>
          </a:xfrm>
          <a:prstGeom prst="rect">
            <a:avLst/>
          </a:prstGeom>
        </p:spPr>
      </p:pic>
      <p:sp>
        <p:nvSpPr>
          <p:cNvPr id="49" name="!!c3_4"/>
          <p:cNvSpPr txBox="1"/>
          <p:nvPr/>
        </p:nvSpPr>
        <p:spPr>
          <a:xfrm>
            <a:off x="2240280" y="763524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RES-00005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0F1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kΩ motstand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4B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Kabinett A1 · Skuff A2</a:t>
            </a:r>
            <a:endParaRPr lang="en-US" sz="2200" dirty="0"/>
          </a:p>
        </p:txBody>
      </p:sp>
      <p:sp>
        <p:nvSpPr>
          <p:cNvPr id="50" name="!!c3_5"/>
          <p:cNvSpPr/>
          <p:nvPr/>
        </p:nvSpPr>
        <p:spPr>
          <a:xfrm flipV="1">
            <a:off x="5029200" y="-4181830"/>
            <a:ext cx="2049262" cy="3633190"/>
          </a:xfrm>
          <a:prstGeom prst="line">
            <a:avLst/>
          </a:prstGeom>
          <a:noFill/>
          <a:ln w="19050">
            <a:solidFill>
              <a:srgbClr val="FF3C33"/>
            </a:solidFill>
            <a:prstDash val="dash"/>
            <a:tailEnd type="oval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orbR" descr="/tmp/deck/a/orb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71600" y="3840480"/>
            <a:ext cx="5486400" cy="5486400"/>
          </a:xfrm>
          <a:prstGeom prst="rect">
            <a:avLst/>
          </a:prstGeom>
        </p:spPr>
      </p:pic>
      <p:pic>
        <p:nvPicPr>
          <p:cNvPr id="4" name="!!orbG" descr="/tmp/deck/a/orb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-2743200"/>
            <a:ext cx="5486400" cy="5486400"/>
          </a:xfrm>
          <a:prstGeom prst="rect">
            <a:avLst/>
          </a:prstGeom>
        </p:spPr>
      </p:pic>
      <p:pic>
        <p:nvPicPr>
          <p:cNvPr id="5" name="!!log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1600200" cy="294198"/>
          </a:xfrm>
          <a:prstGeom prst="rect">
            <a:avLst/>
          </a:prstGeom>
        </p:spPr>
      </p:pic>
      <p:sp>
        <p:nvSpPr>
          <p:cNvPr id="6" name="!!c3_0"/>
          <p:cNvSpPr txBox="1"/>
          <p:nvPr/>
        </p:nvSpPr>
        <p:spPr>
          <a:xfrm>
            <a:off x="548640" y="1143000"/>
            <a:ext cx="512064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Hver skuff har sin egen lapp</a:t>
            </a:r>
            <a:endParaRPr lang="en-US" sz="4000" dirty="0"/>
          </a:p>
        </p:txBody>
      </p:sp>
      <p:sp>
        <p:nvSpPr>
          <p:cNvPr id="7" name="!!c3_1"/>
          <p:cNvSpPr txBox="1"/>
          <p:nvPr/>
        </p:nvSpPr>
        <p:spPr>
          <a:xfrm>
            <a:off x="548640" y="26974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QR-koden åpner bare delens side. Pris og beholdning hentes alltid fra lageret, så lappen blir aldri utdatert.</a:t>
            </a:r>
            <a:endParaRPr lang="en-US" sz="1800" dirty="0"/>
          </a:p>
        </p:txBody>
      </p:sp>
      <p:pic>
        <p:nvPicPr>
          <p:cNvPr id="8" name="!!shelf-cabA2" descr="/tmp/deck/a/cabinet-8x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-5963717"/>
            <a:ext cx="3794760" cy="6071616"/>
          </a:xfrm>
          <a:prstGeom prst="rect">
            <a:avLst/>
          </a:prstGeom>
        </p:spPr>
      </p:pic>
      <p:sp>
        <p:nvSpPr>
          <p:cNvPr id="9" name="!!shelf-chipA2"/>
          <p:cNvSpPr txBox="1"/>
          <p:nvPr/>
        </p:nvSpPr>
        <p:spPr>
          <a:xfrm>
            <a:off x="7898130" y="-840791"/>
            <a:ext cx="1897380" cy="758952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5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4150" dirty="0"/>
          </a:p>
        </p:txBody>
      </p:sp>
      <p:pic>
        <p:nvPicPr>
          <p:cNvPr id="10" name="!!shelf-cabA1" descr="/tmp/deck/a/cabin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411480"/>
            <a:ext cx="3794760" cy="6071616"/>
          </a:xfrm>
          <a:prstGeom prst="rect">
            <a:avLst/>
          </a:prstGeom>
        </p:spPr>
      </p:pic>
      <p:sp>
        <p:nvSpPr>
          <p:cNvPr id="11" name="!!shelf-chipA1"/>
          <p:cNvSpPr txBox="1"/>
          <p:nvPr/>
        </p:nvSpPr>
        <p:spPr>
          <a:xfrm>
            <a:off x="7898130" y="5534406"/>
            <a:ext cx="1897380" cy="758952"/>
          </a:xfrm>
          <a:prstGeom prst="roundRect">
            <a:avLst>
              <a:gd name="adj" fmla="val 50000"/>
            </a:avLst>
          </a:prstGeom>
          <a:solidFill>
            <a:srgbClr val="FF3C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4150" dirty="0"/>
          </a:p>
        </p:txBody>
      </p:sp>
      <p:pic>
        <p:nvPicPr>
          <p:cNvPr id="12" name="!!shelf-cabB2" descr="/tmp/deck/a/cabin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7781" y="-5963717"/>
            <a:ext cx="3794760" cy="6071616"/>
          </a:xfrm>
          <a:prstGeom prst="rect">
            <a:avLst/>
          </a:prstGeom>
        </p:spPr>
      </p:pic>
      <p:sp>
        <p:nvSpPr>
          <p:cNvPr id="13" name="!!shelf-chipB2"/>
          <p:cNvSpPr txBox="1"/>
          <p:nvPr/>
        </p:nvSpPr>
        <p:spPr>
          <a:xfrm>
            <a:off x="11996471" y="-840791"/>
            <a:ext cx="1897380" cy="758952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5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4150" dirty="0"/>
          </a:p>
        </p:txBody>
      </p:sp>
      <p:pic>
        <p:nvPicPr>
          <p:cNvPr id="14" name="!!shelf-cabB1" descr="/tmp/deck/a/cabin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7781" y="411480"/>
            <a:ext cx="3794760" cy="6071616"/>
          </a:xfrm>
          <a:prstGeom prst="rect">
            <a:avLst/>
          </a:prstGeom>
        </p:spPr>
      </p:pic>
      <p:sp>
        <p:nvSpPr>
          <p:cNvPr id="15" name="!!shelf-chipB1"/>
          <p:cNvSpPr txBox="1"/>
          <p:nvPr/>
        </p:nvSpPr>
        <p:spPr>
          <a:xfrm>
            <a:off x="11996471" y="5534406"/>
            <a:ext cx="1897380" cy="758952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5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4150" dirty="0"/>
          </a:p>
        </p:txBody>
      </p:sp>
      <p:pic>
        <p:nvPicPr>
          <p:cNvPr id="16" name="!!shelf-cabC2" descr="/tmp/deck/a/cabinet-C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46122" y="-5963717"/>
            <a:ext cx="3794760" cy="6071616"/>
          </a:xfrm>
          <a:prstGeom prst="rect">
            <a:avLst/>
          </a:prstGeom>
        </p:spPr>
      </p:pic>
      <p:sp>
        <p:nvSpPr>
          <p:cNvPr id="17" name="!!shelf-chipC2"/>
          <p:cNvSpPr txBox="1"/>
          <p:nvPr/>
        </p:nvSpPr>
        <p:spPr>
          <a:xfrm>
            <a:off x="16094812" y="-840791"/>
            <a:ext cx="1897380" cy="758952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5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4150" dirty="0"/>
          </a:p>
        </p:txBody>
      </p:sp>
      <p:pic>
        <p:nvPicPr>
          <p:cNvPr id="18" name="!!shelf-cabC1" descr="/tmp/deck/a/cabine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46122" y="411480"/>
            <a:ext cx="3794760" cy="6071616"/>
          </a:xfrm>
          <a:prstGeom prst="rect">
            <a:avLst/>
          </a:prstGeom>
        </p:spPr>
      </p:pic>
      <p:sp>
        <p:nvSpPr>
          <p:cNvPr id="19" name="!!shelf-chipC1"/>
          <p:cNvSpPr txBox="1"/>
          <p:nvPr/>
        </p:nvSpPr>
        <p:spPr>
          <a:xfrm>
            <a:off x="16094812" y="5534406"/>
            <a:ext cx="1897380" cy="758952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5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4150" dirty="0"/>
          </a:p>
        </p:txBody>
      </p:sp>
      <p:pic>
        <p:nvPicPr>
          <p:cNvPr id="20" name="!!shelf-cabD2" descr="/tmp/deck/a/cabine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244462" y="-5963717"/>
            <a:ext cx="3794760" cy="6071616"/>
          </a:xfrm>
          <a:prstGeom prst="rect">
            <a:avLst/>
          </a:prstGeom>
        </p:spPr>
      </p:pic>
      <p:sp>
        <p:nvSpPr>
          <p:cNvPr id="21" name="!!shelf-chipD2"/>
          <p:cNvSpPr txBox="1"/>
          <p:nvPr/>
        </p:nvSpPr>
        <p:spPr>
          <a:xfrm>
            <a:off x="20193152" y="-840791"/>
            <a:ext cx="1897380" cy="758952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5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4150" dirty="0"/>
          </a:p>
        </p:txBody>
      </p:sp>
      <p:pic>
        <p:nvPicPr>
          <p:cNvPr id="22" name="!!shelf-cabD1" descr="/tmp/deck/a/cabine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244462" y="411480"/>
            <a:ext cx="3794760" cy="6071616"/>
          </a:xfrm>
          <a:prstGeom prst="rect">
            <a:avLst/>
          </a:prstGeom>
        </p:spPr>
      </p:pic>
      <p:sp>
        <p:nvSpPr>
          <p:cNvPr id="23" name="!!shelf-chipD1"/>
          <p:cNvSpPr txBox="1"/>
          <p:nvPr/>
        </p:nvSpPr>
        <p:spPr>
          <a:xfrm>
            <a:off x="20193152" y="5534406"/>
            <a:ext cx="1897380" cy="758952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5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4150" dirty="0"/>
          </a:p>
        </p:txBody>
      </p:sp>
      <p:pic>
        <p:nvPicPr>
          <p:cNvPr id="24" name="!!shelf-cabE2" descr="/tmp/deck/a/cabine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342803" y="-5963717"/>
            <a:ext cx="3794760" cy="6071616"/>
          </a:xfrm>
          <a:prstGeom prst="rect">
            <a:avLst/>
          </a:prstGeom>
        </p:spPr>
      </p:pic>
      <p:sp>
        <p:nvSpPr>
          <p:cNvPr id="25" name="!!shelf-chipE2"/>
          <p:cNvSpPr txBox="1"/>
          <p:nvPr/>
        </p:nvSpPr>
        <p:spPr>
          <a:xfrm>
            <a:off x="24291493" y="-840791"/>
            <a:ext cx="1897380" cy="758952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5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4150" dirty="0"/>
          </a:p>
        </p:txBody>
      </p:sp>
      <p:pic>
        <p:nvPicPr>
          <p:cNvPr id="26" name="!!shelf-cabE1" descr="/tmp/deck/a/cabinet-8x3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342803" y="411480"/>
            <a:ext cx="3794760" cy="6071616"/>
          </a:xfrm>
          <a:prstGeom prst="rect">
            <a:avLst/>
          </a:prstGeom>
        </p:spPr>
      </p:pic>
      <p:sp>
        <p:nvSpPr>
          <p:cNvPr id="27" name="!!shelf-chipE1"/>
          <p:cNvSpPr txBox="1"/>
          <p:nvPr/>
        </p:nvSpPr>
        <p:spPr>
          <a:xfrm>
            <a:off x="24291493" y="5534406"/>
            <a:ext cx="1897380" cy="758952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5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4150" dirty="0"/>
          </a:p>
        </p:txBody>
      </p:sp>
      <p:pic>
        <p:nvPicPr>
          <p:cNvPr id="28" name="!!shelf-cabF2" descr="/tmp/deck/a/cabinet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441144" y="-5963717"/>
            <a:ext cx="3794760" cy="6071616"/>
          </a:xfrm>
          <a:prstGeom prst="rect">
            <a:avLst/>
          </a:prstGeom>
        </p:spPr>
      </p:pic>
      <p:sp>
        <p:nvSpPr>
          <p:cNvPr id="29" name="!!shelf-chipF2"/>
          <p:cNvSpPr txBox="1"/>
          <p:nvPr/>
        </p:nvSpPr>
        <p:spPr>
          <a:xfrm>
            <a:off x="28389834" y="-840791"/>
            <a:ext cx="1897380" cy="758952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5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4150" dirty="0"/>
          </a:p>
        </p:txBody>
      </p:sp>
      <p:pic>
        <p:nvPicPr>
          <p:cNvPr id="30" name="!!shelf-cabF1" descr="/tmp/deck/a/cabinet-8x3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441144" y="411480"/>
            <a:ext cx="3794760" cy="6071616"/>
          </a:xfrm>
          <a:prstGeom prst="rect">
            <a:avLst/>
          </a:prstGeom>
        </p:spPr>
      </p:pic>
      <p:sp>
        <p:nvSpPr>
          <p:cNvPr id="31" name="!!shelf-chipF1"/>
          <p:cNvSpPr txBox="1"/>
          <p:nvPr/>
        </p:nvSpPr>
        <p:spPr>
          <a:xfrm>
            <a:off x="28389834" y="5534406"/>
            <a:ext cx="1897380" cy="758952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5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4150" dirty="0"/>
          </a:p>
        </p:txBody>
      </p:sp>
      <p:sp>
        <p:nvSpPr>
          <p:cNvPr id="32" name="!!shelf-drawer"/>
          <p:cNvSpPr/>
          <p:nvPr/>
        </p:nvSpPr>
        <p:spPr>
          <a:xfrm>
            <a:off x="7078462" y="1026990"/>
            <a:ext cx="867103" cy="463720"/>
          </a:xfrm>
          <a:prstGeom prst="roundRect">
            <a:avLst>
              <a:gd name="adj" fmla="val 9820"/>
            </a:avLst>
          </a:prstGeom>
          <a:solidFill>
            <a:srgbClr val="FF3C33">
              <a:alpha val="30000"/>
            </a:srgbClr>
          </a:solidFill>
          <a:ln w="31750">
            <a:solidFill>
              <a:srgbClr val="FF3C33"/>
            </a:solidFill>
            <a:prstDash val="solid"/>
          </a:ln>
          <a:effectLst>
            <a:outerShdw sx="100000" sy="100000" kx="0" ky="0" algn="bl" rotWithShape="0" blurRad="228600" dist="50800" dir="5400000">
              <a:srgbClr val="FF3C33">
                <a:alpha val="80000"/>
              </a:srgbClr>
            </a:outerShdw>
          </a:effectLst>
        </p:spPr>
      </p:sp>
      <p:sp>
        <p:nvSpPr>
          <p:cNvPr id="33" name="!!c3_2"/>
          <p:cNvSpPr/>
          <p:nvPr/>
        </p:nvSpPr>
        <p:spPr>
          <a:xfrm>
            <a:off x="548640" y="4069080"/>
            <a:ext cx="448056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4" name="!!c3_3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7240" y="4297680"/>
            <a:ext cx="1234440" cy="1234440"/>
          </a:xfrm>
          <a:prstGeom prst="rect">
            <a:avLst/>
          </a:prstGeom>
        </p:spPr>
      </p:pic>
      <p:sp>
        <p:nvSpPr>
          <p:cNvPr id="35" name="!!c3_4"/>
          <p:cNvSpPr txBox="1"/>
          <p:nvPr/>
        </p:nvSpPr>
        <p:spPr>
          <a:xfrm>
            <a:off x="2240280" y="429768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RES-00005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0F1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kΩ motstand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4B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Kabinett A1 · Skuff A2</a:t>
            </a:r>
            <a:endParaRPr lang="en-US" sz="2200" dirty="0"/>
          </a:p>
        </p:txBody>
      </p:sp>
      <p:sp>
        <p:nvSpPr>
          <p:cNvPr id="36" name="!!c3_5"/>
          <p:cNvSpPr/>
          <p:nvPr/>
        </p:nvSpPr>
        <p:spPr>
          <a:xfrm flipV="1">
            <a:off x="5029200" y="1258850"/>
            <a:ext cx="2049262" cy="3633190"/>
          </a:xfrm>
          <a:prstGeom prst="line">
            <a:avLst/>
          </a:prstGeom>
          <a:noFill/>
          <a:ln w="19050">
            <a:solidFill>
              <a:srgbClr val="FF3C33"/>
            </a:solidFill>
            <a:prstDash val="dash"/>
            <a:tailEnd type="oval"/>
          </a:ln>
        </p:spPr>
      </p:sp>
      <p:sp>
        <p:nvSpPr>
          <p:cNvPr id="37" name="!!c2_0"/>
          <p:cNvSpPr txBox="1"/>
          <p:nvPr/>
        </p:nvSpPr>
        <p:spPr>
          <a:xfrm>
            <a:off x="548640" y="-1869440"/>
            <a:ext cx="420624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digitalt speil av hylla</a:t>
            </a:r>
            <a:endParaRPr lang="en-US" sz="4000" dirty="0"/>
          </a:p>
        </p:txBody>
      </p:sp>
      <p:pic>
        <p:nvPicPr>
          <p:cNvPr id="38" name="!!c2_1" descr="/tmp/deck/a/led-12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1407492" y="2606040"/>
            <a:ext cx="858852" cy="685800"/>
          </a:xfrm>
          <a:prstGeom prst="rect">
            <a:avLst/>
          </a:prstGeom>
        </p:spPr>
      </p:pic>
      <p:sp>
        <p:nvSpPr>
          <p:cNvPr id="39" name="!!c2_2"/>
          <p:cNvSpPr txBox="1"/>
          <p:nvPr/>
        </p:nvSpPr>
        <p:spPr>
          <a:xfrm>
            <a:off x="-2011680" y="3337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kabinetter</a:t>
            </a:r>
            <a:endParaRPr lang="en-US" sz="1500" dirty="0"/>
          </a:p>
        </p:txBody>
      </p:sp>
      <p:pic>
        <p:nvPicPr>
          <p:cNvPr id="40" name="!!c2_3" descr="/tmp/deck/a/led-492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1801667" y="2606040"/>
            <a:ext cx="1253027" cy="685800"/>
          </a:xfrm>
          <a:prstGeom prst="rect">
            <a:avLst/>
          </a:prstGeom>
        </p:spPr>
      </p:pic>
      <p:sp>
        <p:nvSpPr>
          <p:cNvPr id="41" name="!!c2_4"/>
          <p:cNvSpPr txBox="1"/>
          <p:nvPr/>
        </p:nvSpPr>
        <p:spPr>
          <a:xfrm>
            <a:off x="-2011680" y="3337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skuffer</a:t>
            </a:r>
            <a:endParaRPr lang="en-US" sz="1500" dirty="0"/>
          </a:p>
        </p:txBody>
      </p:sp>
      <p:sp>
        <p:nvSpPr>
          <p:cNvPr id="42" name="!!c2_5"/>
          <p:cNvSpPr txBox="1"/>
          <p:nvPr/>
        </p:nvSpPr>
        <p:spPr>
          <a:xfrm>
            <a:off x="548640" y="74066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Lagersystemet vet hvor hver del ligger og hvor mye som er igjen.</a:t>
            </a:r>
            <a:endParaRPr lang="en-US" sz="1800" dirty="0"/>
          </a:p>
        </p:txBody>
      </p:sp>
      <p:sp>
        <p:nvSpPr>
          <p:cNvPr id="43" name="!!c4_0"/>
          <p:cNvSpPr/>
          <p:nvPr/>
        </p:nvSpPr>
        <p:spPr>
          <a:xfrm>
            <a:off x="12740335" y="411480"/>
            <a:ext cx="2898648" cy="6035040"/>
          </a:xfrm>
          <a:prstGeom prst="roundRect">
            <a:avLst>
              <a:gd name="adj" fmla="val 13249"/>
            </a:avLst>
          </a:prstGeom>
          <a:solidFill>
            <a:srgbClr val="0B0B0C"/>
          </a:solidFill>
          <a:ln w="15875">
            <a:solidFill>
              <a:srgbClr val="34343A"/>
            </a:solidFill>
            <a:prstDash val="solid"/>
          </a:ln>
          <a:effectLst>
            <a:outerShdw sx="100000" sy="100000" kx="0" ky="0" algn="bl" rotWithShape="0" blurRad="381000" dist="50800" dir="5400000">
              <a:srgbClr val="FF3C33">
                <a:alpha val="18000"/>
              </a:srgbClr>
            </a:outerShdw>
          </a:effectLst>
        </p:spPr>
      </p:sp>
      <p:pic>
        <p:nvPicPr>
          <p:cNvPr id="44" name="!!c4_1" descr="/tmp/deck/a/04-product-RES-00005-phon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840919" y="512064"/>
            <a:ext cx="2697480" cy="5833872"/>
          </a:xfrm>
          <a:prstGeom prst="rect">
            <a:avLst/>
          </a:prstGeom>
        </p:spPr>
      </p:pic>
      <p:sp>
        <p:nvSpPr>
          <p:cNvPr id="45" name="!!c4_2"/>
          <p:cNvSpPr txBox="1"/>
          <p:nvPr/>
        </p:nvSpPr>
        <p:spPr>
          <a:xfrm>
            <a:off x="548640" y="-2133600"/>
            <a:ext cx="685800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 delen</a:t>
            </a:r>
            <a:endParaRPr lang="en-US" sz="4800" dirty="0"/>
          </a:p>
        </p:txBody>
      </p:sp>
      <p:sp>
        <p:nvSpPr>
          <p:cNvPr id="46" name="!!c4_3"/>
          <p:cNvSpPr txBox="1"/>
          <p:nvPr/>
        </p:nvSpPr>
        <p:spPr>
          <a:xfrm>
            <a:off x="548640" y="-19202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Skann QR-koden på skuffen, eller slå opp koden i delekatalogen. Produktsiden viser pris, beholdning og hvor delen ligger.</a:t>
            </a:r>
            <a:endParaRPr lang="en-US" sz="2000" dirty="0"/>
          </a:p>
        </p:txBody>
      </p:sp>
      <p:sp>
        <p:nvSpPr>
          <p:cNvPr id="47" name="!!c4_4"/>
          <p:cNvSpPr txBox="1"/>
          <p:nvPr/>
        </p:nvSpPr>
        <p:spPr>
          <a:xfrm>
            <a:off x="-1988820" y="3703320"/>
            <a:ext cx="1440180" cy="384048"/>
          </a:xfrm>
          <a:prstGeom prst="roundRect">
            <a:avLst>
              <a:gd name="adj" fmla="val 50000"/>
            </a:avLst>
          </a:prstGeom>
          <a:solidFill>
            <a:srgbClr val="0F0F11"/>
          </a:solidFill>
          <a:ln w="12700">
            <a:solidFill>
              <a:srgbClr val="2A2A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konto</a:t>
            </a:r>
            <a:endParaRPr lang="en-US" sz="1300" dirty="0"/>
          </a:p>
        </p:txBody>
      </p:sp>
      <p:sp>
        <p:nvSpPr>
          <p:cNvPr id="48" name="!!c4_5"/>
          <p:cNvSpPr txBox="1"/>
          <p:nvPr/>
        </p:nvSpPr>
        <p:spPr>
          <a:xfrm>
            <a:off x="-1796796" y="3703320"/>
            <a:ext cx="1248156" cy="384048"/>
          </a:xfrm>
          <a:prstGeom prst="roundRect">
            <a:avLst>
              <a:gd name="adj" fmla="val 50000"/>
            </a:avLst>
          </a:prstGeom>
          <a:solidFill>
            <a:srgbClr val="0F0F11"/>
          </a:solidFill>
          <a:ln w="12700">
            <a:solidFill>
              <a:srgbClr val="2A2A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app</a:t>
            </a:r>
            <a:endParaRPr lang="en-US" sz="1300" dirty="0"/>
          </a:p>
        </p:txBody>
      </p:sp>
      <p:sp>
        <p:nvSpPr>
          <p:cNvPr id="49" name="!!c4_6"/>
          <p:cNvSpPr txBox="1"/>
          <p:nvPr/>
        </p:nvSpPr>
        <p:spPr>
          <a:xfrm>
            <a:off x="3493008" y="740664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0F0F11"/>
          </a:solidFill>
          <a:ln w="12700">
            <a:solidFill>
              <a:srgbClr val="2A2A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Norsk og engelsk</a:t>
            </a:r>
            <a:endParaRPr lang="en-US" sz="1300" dirty="0"/>
          </a:p>
        </p:txBody>
      </p:sp>
      <p:sp>
        <p:nvSpPr>
          <p:cNvPr id="50" name="!!c4_7"/>
          <p:cNvSpPr txBox="1"/>
          <p:nvPr/>
        </p:nvSpPr>
        <p:spPr>
          <a:xfrm>
            <a:off x="5541264" y="7406640"/>
            <a:ext cx="2016252" cy="384048"/>
          </a:xfrm>
          <a:prstGeom prst="roundRect">
            <a:avLst>
              <a:gd name="adj" fmla="val 50000"/>
            </a:avLst>
          </a:prstGeom>
          <a:solidFill>
            <a:srgbClr val="0F0F11"/>
          </a:solidFill>
          <a:ln w="12700">
            <a:solidFill>
              <a:srgbClr val="2A2A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Mørk og lys modus</a:t>
            </a:r>
            <a:endParaRPr lang="en-US" sz="1300" dirty="0"/>
          </a:p>
        </p:txBody>
      </p:sp>
      <p:sp>
        <p:nvSpPr>
          <p:cNvPr id="51" name="!!c4_8"/>
          <p:cNvSpPr/>
          <p:nvPr/>
        </p:nvSpPr>
        <p:spPr>
          <a:xfrm>
            <a:off x="576072" y="7406640"/>
            <a:ext cx="1856232" cy="713232"/>
          </a:xfrm>
          <a:prstGeom prst="roundRect">
            <a:avLst>
              <a:gd name="adj" fmla="val 15385"/>
            </a:avLst>
          </a:prstGeom>
          <a:solidFill>
            <a:srgbClr val="FF3C33">
              <a:alpha val="12000"/>
            </a:srgbClr>
          </a:solidFill>
          <a:ln w="12700">
            <a:solidFill>
              <a:srgbClr val="FF3C33"/>
            </a:solidFill>
            <a:prstDash val="solid"/>
          </a:ln>
        </p:spPr>
      </p:sp>
      <p:pic>
        <p:nvPicPr>
          <p:cNvPr id="52" name="!!c4_9" descr="/tmp/deck/a/led-step1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5800" y="7498080"/>
            <a:ext cx="356616" cy="530352"/>
          </a:xfrm>
          <a:prstGeom prst="rect">
            <a:avLst/>
          </a:prstGeom>
        </p:spPr>
      </p:pic>
      <p:sp>
        <p:nvSpPr>
          <p:cNvPr id="53" name="!!c4_10"/>
          <p:cNvSpPr txBox="1"/>
          <p:nvPr/>
        </p:nvSpPr>
        <p:spPr>
          <a:xfrm>
            <a:off x="1143000" y="749808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 delen</a:t>
            </a:r>
            <a:endParaRPr lang="en-US" sz="1500" dirty="0"/>
          </a:p>
        </p:txBody>
      </p:sp>
      <p:pic>
        <p:nvPicPr>
          <p:cNvPr id="54" name="!!c4_11" descr="/tmp/deck/a/led-step2.png">    </p:cNvPr>
          <p:cNvPicPr>
            <a:picLocks noChangeAspect="1"/>
          </p:cNvPicPr>
          <p:nvPr/>
        </p:nvPicPr>
        <p:blipFill>
          <a:blip r:embed="rId21">
            <a:alphaModFix amt="45000"/>
          </a:blip>
          <a:stretch>
            <a:fillRect/>
          </a:stretch>
        </p:blipFill>
        <p:spPr>
          <a:xfrm>
            <a:off x="2651760" y="7406640"/>
            <a:ext cx="356616" cy="530352"/>
          </a:xfrm>
          <a:prstGeom prst="rect">
            <a:avLst/>
          </a:prstGeom>
        </p:spPr>
      </p:pic>
      <p:sp>
        <p:nvSpPr>
          <p:cNvPr id="55" name="!!c4_12"/>
          <p:cNvSpPr txBox="1"/>
          <p:nvPr/>
        </p:nvSpPr>
        <p:spPr>
          <a:xfrm>
            <a:off x="3108960" y="74066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Betal i Vipps</a:t>
            </a:r>
            <a:endParaRPr lang="en-US" sz="1500" dirty="0"/>
          </a:p>
        </p:txBody>
      </p:sp>
      <p:pic>
        <p:nvPicPr>
          <p:cNvPr id="56" name="!!c4_13" descr="/tmp/deck/a/led-step3.png">    </p:cNvPr>
          <p:cNvPicPr>
            <a:picLocks noChangeAspect="1"/>
          </p:cNvPicPr>
          <p:nvPr/>
        </p:nvPicPr>
        <p:blipFill>
          <a:blip r:embed="rId22">
            <a:alphaModFix amt="45000"/>
          </a:blip>
          <a:stretch>
            <a:fillRect/>
          </a:stretch>
        </p:blipFill>
        <p:spPr>
          <a:xfrm>
            <a:off x="4617720" y="7406640"/>
            <a:ext cx="356616" cy="530352"/>
          </a:xfrm>
          <a:prstGeom prst="rect">
            <a:avLst/>
          </a:prstGeom>
        </p:spPr>
      </p:pic>
      <p:sp>
        <p:nvSpPr>
          <p:cNvPr id="57" name="!!c4_14"/>
          <p:cNvSpPr txBox="1"/>
          <p:nvPr/>
        </p:nvSpPr>
        <p:spPr>
          <a:xfrm>
            <a:off x="5074920" y="74066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Registrer kjøpet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orbR" descr="/tmp/deck/a/orb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74320"/>
            <a:ext cx="6400800" cy="6400800"/>
          </a:xfrm>
          <a:prstGeom prst="rect">
            <a:avLst/>
          </a:prstGeom>
        </p:spPr>
      </p:pic>
      <p:pic>
        <p:nvPicPr>
          <p:cNvPr id="4" name="!!orbG" descr="/tmp/deck/a/orb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00" y="-2743200"/>
            <a:ext cx="5486400" cy="5486400"/>
          </a:xfrm>
          <a:prstGeom prst="rect">
            <a:avLst/>
          </a:prstGeom>
        </p:spPr>
      </p:pic>
      <p:pic>
        <p:nvPicPr>
          <p:cNvPr id="5" name="!!log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1600200" cy="294198"/>
          </a:xfrm>
          <a:prstGeom prst="rect">
            <a:avLst/>
          </a:prstGeom>
        </p:spPr>
      </p:pic>
      <p:sp>
        <p:nvSpPr>
          <p:cNvPr id="6" name="!!c4_0"/>
          <p:cNvSpPr/>
          <p:nvPr/>
        </p:nvSpPr>
        <p:spPr>
          <a:xfrm>
            <a:off x="8138160" y="411480"/>
            <a:ext cx="2898648" cy="6035040"/>
          </a:xfrm>
          <a:prstGeom prst="roundRect">
            <a:avLst>
              <a:gd name="adj" fmla="val 13249"/>
            </a:avLst>
          </a:prstGeom>
          <a:solidFill>
            <a:srgbClr val="0B0B0C"/>
          </a:solidFill>
          <a:ln w="15875">
            <a:solidFill>
              <a:srgbClr val="34343A"/>
            </a:solidFill>
            <a:prstDash val="solid"/>
          </a:ln>
          <a:effectLst>
            <a:outerShdw sx="100000" sy="100000" kx="0" ky="0" algn="bl" rotWithShape="0" blurRad="381000" dist="50800" dir="5400000">
              <a:srgbClr val="FF3C33">
                <a:alpha val="18000"/>
              </a:srgbClr>
            </a:outerShdw>
          </a:effectLst>
        </p:spPr>
      </p:sp>
      <p:pic>
        <p:nvPicPr>
          <p:cNvPr id="7" name="!!c4_1" descr="/tmp/deck/a/04-product-RES-00005-ph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744" y="512064"/>
            <a:ext cx="2697480" cy="5833872"/>
          </a:xfrm>
          <a:prstGeom prst="rect">
            <a:avLst/>
          </a:prstGeom>
        </p:spPr>
      </p:pic>
      <p:sp>
        <p:nvSpPr>
          <p:cNvPr id="8" name="!!c4_2"/>
          <p:cNvSpPr txBox="1"/>
          <p:nvPr/>
        </p:nvSpPr>
        <p:spPr>
          <a:xfrm>
            <a:off x="548640" y="1143000"/>
            <a:ext cx="685800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 delen</a:t>
            </a:r>
            <a:endParaRPr lang="en-US" sz="4800" dirty="0"/>
          </a:p>
        </p:txBody>
      </p:sp>
      <p:sp>
        <p:nvSpPr>
          <p:cNvPr id="9" name="!!c4_3"/>
          <p:cNvSpPr txBox="1"/>
          <p:nvPr/>
        </p:nvSpPr>
        <p:spPr>
          <a:xfrm>
            <a:off x="548640" y="21488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Skann QR-koden på skuffen, eller slå opp koden i delekatalogen. Produktsiden viser pris, beholdning og hvor delen ligger.</a:t>
            </a:r>
            <a:endParaRPr lang="en-US" sz="2000" dirty="0"/>
          </a:p>
        </p:txBody>
      </p:sp>
      <p:sp>
        <p:nvSpPr>
          <p:cNvPr id="10" name="!!c4_4"/>
          <p:cNvSpPr txBox="1"/>
          <p:nvPr/>
        </p:nvSpPr>
        <p:spPr>
          <a:xfrm>
            <a:off x="548640" y="3703320"/>
            <a:ext cx="1440180" cy="384048"/>
          </a:xfrm>
          <a:prstGeom prst="roundRect">
            <a:avLst>
              <a:gd name="adj" fmla="val 50000"/>
            </a:avLst>
          </a:prstGeom>
          <a:solidFill>
            <a:srgbClr val="0F0F11"/>
          </a:solidFill>
          <a:ln w="12700">
            <a:solidFill>
              <a:srgbClr val="2A2A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konto</a:t>
            </a:r>
            <a:endParaRPr lang="en-US" sz="1300" dirty="0"/>
          </a:p>
        </p:txBody>
      </p:sp>
      <p:sp>
        <p:nvSpPr>
          <p:cNvPr id="11" name="!!c4_5"/>
          <p:cNvSpPr txBox="1"/>
          <p:nvPr/>
        </p:nvSpPr>
        <p:spPr>
          <a:xfrm>
            <a:off x="2116836" y="3703320"/>
            <a:ext cx="1248156" cy="384048"/>
          </a:xfrm>
          <a:prstGeom prst="roundRect">
            <a:avLst>
              <a:gd name="adj" fmla="val 50000"/>
            </a:avLst>
          </a:prstGeom>
          <a:solidFill>
            <a:srgbClr val="0F0F11"/>
          </a:solidFill>
          <a:ln w="12700">
            <a:solidFill>
              <a:srgbClr val="2A2A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app</a:t>
            </a:r>
            <a:endParaRPr lang="en-US" sz="1300" dirty="0"/>
          </a:p>
        </p:txBody>
      </p:sp>
      <p:sp>
        <p:nvSpPr>
          <p:cNvPr id="12" name="!!c4_6"/>
          <p:cNvSpPr txBox="1"/>
          <p:nvPr/>
        </p:nvSpPr>
        <p:spPr>
          <a:xfrm>
            <a:off x="3493008" y="370332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0F0F11"/>
          </a:solidFill>
          <a:ln w="12700">
            <a:solidFill>
              <a:srgbClr val="2A2A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Norsk og engelsk</a:t>
            </a:r>
            <a:endParaRPr lang="en-US" sz="1300" dirty="0"/>
          </a:p>
        </p:txBody>
      </p:sp>
      <p:sp>
        <p:nvSpPr>
          <p:cNvPr id="13" name="!!c4_7"/>
          <p:cNvSpPr txBox="1"/>
          <p:nvPr/>
        </p:nvSpPr>
        <p:spPr>
          <a:xfrm>
            <a:off x="5541264" y="3703320"/>
            <a:ext cx="2016252" cy="384048"/>
          </a:xfrm>
          <a:prstGeom prst="roundRect">
            <a:avLst>
              <a:gd name="adj" fmla="val 50000"/>
            </a:avLst>
          </a:prstGeom>
          <a:solidFill>
            <a:srgbClr val="0F0F11"/>
          </a:solidFill>
          <a:ln w="12700">
            <a:solidFill>
              <a:srgbClr val="2A2A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Mørk og lys modus</a:t>
            </a:r>
            <a:endParaRPr lang="en-US" sz="1300" dirty="0"/>
          </a:p>
        </p:txBody>
      </p:sp>
      <p:sp>
        <p:nvSpPr>
          <p:cNvPr id="14" name="!!c4_8"/>
          <p:cNvSpPr/>
          <p:nvPr/>
        </p:nvSpPr>
        <p:spPr>
          <a:xfrm>
            <a:off x="576072" y="5440680"/>
            <a:ext cx="1856232" cy="713232"/>
          </a:xfrm>
          <a:prstGeom prst="roundRect">
            <a:avLst>
              <a:gd name="adj" fmla="val 15385"/>
            </a:avLst>
          </a:prstGeom>
          <a:solidFill>
            <a:srgbClr val="FF3C33">
              <a:alpha val="12000"/>
            </a:srgbClr>
          </a:solidFill>
          <a:ln w="12700">
            <a:solidFill>
              <a:srgbClr val="FF3C33"/>
            </a:solidFill>
            <a:prstDash val="solid"/>
          </a:ln>
        </p:spPr>
      </p:sp>
      <p:pic>
        <p:nvPicPr>
          <p:cNvPr id="15" name="!!c4_9" descr="/tmp/deck/a/led-step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532120"/>
            <a:ext cx="356616" cy="530352"/>
          </a:xfrm>
          <a:prstGeom prst="rect">
            <a:avLst/>
          </a:prstGeom>
        </p:spPr>
      </p:pic>
      <p:sp>
        <p:nvSpPr>
          <p:cNvPr id="16" name="!!c4_10"/>
          <p:cNvSpPr txBox="1"/>
          <p:nvPr/>
        </p:nvSpPr>
        <p:spPr>
          <a:xfrm>
            <a:off x="1143000" y="55321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 delen</a:t>
            </a:r>
            <a:endParaRPr lang="en-US" sz="1500" dirty="0"/>
          </a:p>
        </p:txBody>
      </p:sp>
      <p:pic>
        <p:nvPicPr>
          <p:cNvPr id="17" name="!!c4_11" descr="/tmp/deck/a/led-step2.png">    </p:cNvPr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>
            <a:off x="2651760" y="5532120"/>
            <a:ext cx="356616" cy="530352"/>
          </a:xfrm>
          <a:prstGeom prst="rect">
            <a:avLst/>
          </a:prstGeom>
        </p:spPr>
      </p:pic>
      <p:sp>
        <p:nvSpPr>
          <p:cNvPr id="18" name="!!c4_12"/>
          <p:cNvSpPr txBox="1"/>
          <p:nvPr/>
        </p:nvSpPr>
        <p:spPr>
          <a:xfrm>
            <a:off x="3108960" y="55321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Betal i Vipps</a:t>
            </a:r>
            <a:endParaRPr lang="en-US" sz="1500" dirty="0"/>
          </a:p>
        </p:txBody>
      </p:sp>
      <p:pic>
        <p:nvPicPr>
          <p:cNvPr id="19" name="!!c4_13" descr="/tmp/deck/a/led-step3.png">    </p:cNvPr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4617720" y="5532120"/>
            <a:ext cx="356616" cy="530352"/>
          </a:xfrm>
          <a:prstGeom prst="rect">
            <a:avLst/>
          </a:prstGeom>
        </p:spPr>
      </p:pic>
      <p:sp>
        <p:nvSpPr>
          <p:cNvPr id="20" name="!!c4_14"/>
          <p:cNvSpPr txBox="1"/>
          <p:nvPr/>
        </p:nvSpPr>
        <p:spPr>
          <a:xfrm>
            <a:off x="5074920" y="55321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Registrer kjøpet</a:t>
            </a:r>
            <a:endParaRPr lang="en-US" sz="1500" dirty="0"/>
          </a:p>
        </p:txBody>
      </p:sp>
      <p:sp>
        <p:nvSpPr>
          <p:cNvPr id="21" name="!!c3_0"/>
          <p:cNvSpPr txBox="1"/>
          <p:nvPr/>
        </p:nvSpPr>
        <p:spPr>
          <a:xfrm>
            <a:off x="548640" y="-1869440"/>
            <a:ext cx="512064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Hver skuff har sin egen lapp</a:t>
            </a:r>
            <a:endParaRPr lang="en-US" sz="4000" dirty="0"/>
          </a:p>
        </p:txBody>
      </p:sp>
      <p:sp>
        <p:nvSpPr>
          <p:cNvPr id="22" name="!!c3_1"/>
          <p:cNvSpPr txBox="1"/>
          <p:nvPr/>
        </p:nvSpPr>
        <p:spPr>
          <a:xfrm>
            <a:off x="-5303520" y="26974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QR-koden åpner bare delens side. Pris og beholdning hentes alltid fra lageret, så lappen blir aldri utdatert.</a:t>
            </a:r>
            <a:endParaRPr lang="en-US" sz="1800" dirty="0"/>
          </a:p>
        </p:txBody>
      </p:sp>
      <p:pic>
        <p:nvPicPr>
          <p:cNvPr id="23" name="!!shelf-cabA2" descr="/tmp/deck/a/cabinet-8x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0" y="-6620256"/>
            <a:ext cx="3794760" cy="6071616"/>
          </a:xfrm>
          <a:prstGeom prst="rect">
            <a:avLst/>
          </a:prstGeom>
        </p:spPr>
      </p:pic>
      <p:sp>
        <p:nvSpPr>
          <p:cNvPr id="24" name="!!shelf-chipA2"/>
          <p:cNvSpPr txBox="1"/>
          <p:nvPr/>
        </p:nvSpPr>
        <p:spPr>
          <a:xfrm>
            <a:off x="7898130" y="-840791"/>
            <a:ext cx="1897380" cy="758952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5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4150" dirty="0"/>
          </a:p>
        </p:txBody>
      </p:sp>
      <p:pic>
        <p:nvPicPr>
          <p:cNvPr id="25" name="!!shelf-cabA1" descr="/tmp/deck/a/cabine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40335" y="411480"/>
            <a:ext cx="3794760" cy="6071616"/>
          </a:xfrm>
          <a:prstGeom prst="rect">
            <a:avLst/>
          </a:prstGeom>
        </p:spPr>
      </p:pic>
      <p:sp>
        <p:nvSpPr>
          <p:cNvPr id="26" name="!!shelf-chipA1"/>
          <p:cNvSpPr txBox="1"/>
          <p:nvPr/>
        </p:nvSpPr>
        <p:spPr>
          <a:xfrm>
            <a:off x="13689025" y="5534406"/>
            <a:ext cx="1897380" cy="758952"/>
          </a:xfrm>
          <a:prstGeom prst="roundRect">
            <a:avLst>
              <a:gd name="adj" fmla="val 50000"/>
            </a:avLst>
          </a:prstGeom>
          <a:solidFill>
            <a:srgbClr val="FF3C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4150" dirty="0"/>
          </a:p>
        </p:txBody>
      </p:sp>
      <p:pic>
        <p:nvPicPr>
          <p:cNvPr id="27" name="!!shelf-cabB2" descr="/tmp/deck/a/cabine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47781" y="-6620256"/>
            <a:ext cx="3794760" cy="6071616"/>
          </a:xfrm>
          <a:prstGeom prst="rect">
            <a:avLst/>
          </a:prstGeom>
        </p:spPr>
      </p:pic>
      <p:sp>
        <p:nvSpPr>
          <p:cNvPr id="28" name="!!shelf-chipB2"/>
          <p:cNvSpPr txBox="1"/>
          <p:nvPr/>
        </p:nvSpPr>
        <p:spPr>
          <a:xfrm>
            <a:off x="11996471" y="-840791"/>
            <a:ext cx="1897380" cy="758952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5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4150" dirty="0"/>
          </a:p>
        </p:txBody>
      </p:sp>
      <p:pic>
        <p:nvPicPr>
          <p:cNvPr id="29" name="!!shelf-cabB1" descr="/tmp/deck/a/cabine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40335" y="411480"/>
            <a:ext cx="3794760" cy="6071616"/>
          </a:xfrm>
          <a:prstGeom prst="rect">
            <a:avLst/>
          </a:prstGeom>
        </p:spPr>
      </p:pic>
      <p:sp>
        <p:nvSpPr>
          <p:cNvPr id="30" name="!!shelf-chipB1"/>
          <p:cNvSpPr txBox="1"/>
          <p:nvPr/>
        </p:nvSpPr>
        <p:spPr>
          <a:xfrm>
            <a:off x="13689025" y="5534406"/>
            <a:ext cx="1897380" cy="758952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5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4150" dirty="0"/>
          </a:p>
        </p:txBody>
      </p:sp>
      <p:pic>
        <p:nvPicPr>
          <p:cNvPr id="31" name="!!shelf-cabC2" descr="/tmp/deck/a/cabinet-C2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146122" y="-5963717"/>
            <a:ext cx="3794760" cy="6071616"/>
          </a:xfrm>
          <a:prstGeom prst="rect">
            <a:avLst/>
          </a:prstGeom>
        </p:spPr>
      </p:pic>
      <p:sp>
        <p:nvSpPr>
          <p:cNvPr id="32" name="!!shelf-chipC2"/>
          <p:cNvSpPr txBox="1"/>
          <p:nvPr/>
        </p:nvSpPr>
        <p:spPr>
          <a:xfrm>
            <a:off x="16094812" y="-840791"/>
            <a:ext cx="1897380" cy="758952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5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4150" dirty="0"/>
          </a:p>
        </p:txBody>
      </p:sp>
      <p:pic>
        <p:nvPicPr>
          <p:cNvPr id="33" name="!!shelf-cabC1" descr="/tmp/deck/a/cabine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146122" y="411480"/>
            <a:ext cx="3794760" cy="6071616"/>
          </a:xfrm>
          <a:prstGeom prst="rect">
            <a:avLst/>
          </a:prstGeom>
        </p:spPr>
      </p:pic>
      <p:sp>
        <p:nvSpPr>
          <p:cNvPr id="34" name="!!shelf-chipC1"/>
          <p:cNvSpPr txBox="1"/>
          <p:nvPr/>
        </p:nvSpPr>
        <p:spPr>
          <a:xfrm>
            <a:off x="16094812" y="5534406"/>
            <a:ext cx="1897380" cy="758952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5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4150" dirty="0"/>
          </a:p>
        </p:txBody>
      </p:sp>
      <p:pic>
        <p:nvPicPr>
          <p:cNvPr id="35" name="!!shelf-cabD2" descr="/tmp/deck/a/cabinet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244462" y="-5963717"/>
            <a:ext cx="3794760" cy="6071616"/>
          </a:xfrm>
          <a:prstGeom prst="rect">
            <a:avLst/>
          </a:prstGeom>
        </p:spPr>
      </p:pic>
      <p:sp>
        <p:nvSpPr>
          <p:cNvPr id="36" name="!!shelf-chipD2"/>
          <p:cNvSpPr txBox="1"/>
          <p:nvPr/>
        </p:nvSpPr>
        <p:spPr>
          <a:xfrm>
            <a:off x="20193152" y="-840791"/>
            <a:ext cx="1897380" cy="758952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5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4150" dirty="0"/>
          </a:p>
        </p:txBody>
      </p:sp>
      <p:pic>
        <p:nvPicPr>
          <p:cNvPr id="37" name="!!shelf-cabD1" descr="/tmp/deck/a/cabinet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244462" y="411480"/>
            <a:ext cx="3794760" cy="6071616"/>
          </a:xfrm>
          <a:prstGeom prst="rect">
            <a:avLst/>
          </a:prstGeom>
        </p:spPr>
      </p:pic>
      <p:sp>
        <p:nvSpPr>
          <p:cNvPr id="38" name="!!shelf-chipD1"/>
          <p:cNvSpPr txBox="1"/>
          <p:nvPr/>
        </p:nvSpPr>
        <p:spPr>
          <a:xfrm>
            <a:off x="20193152" y="5534406"/>
            <a:ext cx="1897380" cy="758952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5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4150" dirty="0"/>
          </a:p>
        </p:txBody>
      </p:sp>
      <p:pic>
        <p:nvPicPr>
          <p:cNvPr id="39" name="!!shelf-cabE2" descr="/tmp/deck/a/cabinet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342803" y="-5963717"/>
            <a:ext cx="3794760" cy="6071616"/>
          </a:xfrm>
          <a:prstGeom prst="rect">
            <a:avLst/>
          </a:prstGeom>
        </p:spPr>
      </p:pic>
      <p:sp>
        <p:nvSpPr>
          <p:cNvPr id="40" name="!!shelf-chipE2"/>
          <p:cNvSpPr txBox="1"/>
          <p:nvPr/>
        </p:nvSpPr>
        <p:spPr>
          <a:xfrm>
            <a:off x="24291493" y="-840791"/>
            <a:ext cx="1897380" cy="758952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5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4150" dirty="0"/>
          </a:p>
        </p:txBody>
      </p:sp>
      <p:pic>
        <p:nvPicPr>
          <p:cNvPr id="41" name="!!shelf-cabE1" descr="/tmp/deck/a/cabinet-8x3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342803" y="411480"/>
            <a:ext cx="3794760" cy="6071616"/>
          </a:xfrm>
          <a:prstGeom prst="rect">
            <a:avLst/>
          </a:prstGeom>
        </p:spPr>
      </p:pic>
      <p:sp>
        <p:nvSpPr>
          <p:cNvPr id="42" name="!!shelf-chipE1"/>
          <p:cNvSpPr txBox="1"/>
          <p:nvPr/>
        </p:nvSpPr>
        <p:spPr>
          <a:xfrm>
            <a:off x="24291493" y="5534406"/>
            <a:ext cx="1897380" cy="758952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5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4150" dirty="0"/>
          </a:p>
        </p:txBody>
      </p:sp>
      <p:pic>
        <p:nvPicPr>
          <p:cNvPr id="43" name="!!shelf-cabF2" descr="/tmp/deck/a/cabinet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7441144" y="-5963717"/>
            <a:ext cx="3794760" cy="6071616"/>
          </a:xfrm>
          <a:prstGeom prst="rect">
            <a:avLst/>
          </a:prstGeom>
        </p:spPr>
      </p:pic>
      <p:sp>
        <p:nvSpPr>
          <p:cNvPr id="44" name="!!shelf-chipF2"/>
          <p:cNvSpPr txBox="1"/>
          <p:nvPr/>
        </p:nvSpPr>
        <p:spPr>
          <a:xfrm>
            <a:off x="28389834" y="-840791"/>
            <a:ext cx="1897380" cy="758952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5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4150" dirty="0"/>
          </a:p>
        </p:txBody>
      </p:sp>
      <p:pic>
        <p:nvPicPr>
          <p:cNvPr id="45" name="!!shelf-cabF1" descr="/tmp/deck/a/cabinet-8x3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441144" y="411480"/>
            <a:ext cx="3794760" cy="6071616"/>
          </a:xfrm>
          <a:prstGeom prst="rect">
            <a:avLst/>
          </a:prstGeom>
        </p:spPr>
      </p:pic>
      <p:sp>
        <p:nvSpPr>
          <p:cNvPr id="46" name="!!shelf-chipF1"/>
          <p:cNvSpPr txBox="1"/>
          <p:nvPr/>
        </p:nvSpPr>
        <p:spPr>
          <a:xfrm>
            <a:off x="28389834" y="5534406"/>
            <a:ext cx="1897380" cy="758952"/>
          </a:xfrm>
          <a:prstGeom prst="roundRect">
            <a:avLst>
              <a:gd name="adj" fmla="val 50000"/>
            </a:avLst>
          </a:prstGeom>
          <a:solidFill>
            <a:srgbClr val="000000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5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4150" dirty="0"/>
          </a:p>
        </p:txBody>
      </p:sp>
      <p:sp>
        <p:nvSpPr>
          <p:cNvPr id="47" name="!!shelf-drawer"/>
          <p:cNvSpPr/>
          <p:nvPr/>
        </p:nvSpPr>
        <p:spPr>
          <a:xfrm>
            <a:off x="12869357" y="1026990"/>
            <a:ext cx="867103" cy="463720"/>
          </a:xfrm>
          <a:prstGeom prst="roundRect">
            <a:avLst>
              <a:gd name="adj" fmla="val 9820"/>
            </a:avLst>
          </a:prstGeom>
          <a:solidFill>
            <a:srgbClr val="FF3C33">
              <a:alpha val="30000"/>
            </a:srgbClr>
          </a:solidFill>
          <a:ln w="31750">
            <a:solidFill>
              <a:srgbClr val="FF3C33"/>
            </a:solidFill>
            <a:prstDash val="solid"/>
          </a:ln>
          <a:effectLst>
            <a:outerShdw sx="100000" sy="100000" kx="0" ky="0" algn="bl" rotWithShape="0" blurRad="228600" dist="50800" dir="5400000">
              <a:srgbClr val="FF3C33">
                <a:alpha val="80000"/>
              </a:srgbClr>
            </a:outerShdw>
          </a:effectLst>
        </p:spPr>
      </p:sp>
      <p:sp>
        <p:nvSpPr>
          <p:cNvPr id="48" name="!!c3_2"/>
          <p:cNvSpPr/>
          <p:nvPr/>
        </p:nvSpPr>
        <p:spPr>
          <a:xfrm>
            <a:off x="548640" y="7406640"/>
            <a:ext cx="448056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9" name="!!c3_3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77240" y="7635240"/>
            <a:ext cx="1234440" cy="1234440"/>
          </a:xfrm>
          <a:prstGeom prst="rect">
            <a:avLst/>
          </a:prstGeom>
        </p:spPr>
      </p:pic>
      <p:sp>
        <p:nvSpPr>
          <p:cNvPr id="50" name="!!c3_4"/>
          <p:cNvSpPr txBox="1"/>
          <p:nvPr/>
        </p:nvSpPr>
        <p:spPr>
          <a:xfrm>
            <a:off x="2240280" y="763524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RES-00005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0F1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kΩ motstand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4B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Kabinett A1 · Skuff A2</a:t>
            </a:r>
            <a:endParaRPr lang="en-US" sz="2200" dirty="0"/>
          </a:p>
        </p:txBody>
      </p:sp>
      <p:sp>
        <p:nvSpPr>
          <p:cNvPr id="51" name="!!c3_5"/>
          <p:cNvSpPr/>
          <p:nvPr/>
        </p:nvSpPr>
        <p:spPr>
          <a:xfrm flipV="1">
            <a:off x="5029200" y="-4181830"/>
            <a:ext cx="2049262" cy="3633190"/>
          </a:xfrm>
          <a:prstGeom prst="line">
            <a:avLst/>
          </a:prstGeom>
          <a:noFill/>
          <a:ln w="19050">
            <a:solidFill>
              <a:srgbClr val="FF3C33"/>
            </a:solidFill>
            <a:prstDash val="dash"/>
            <a:tailEnd type="oval"/>
          </a:ln>
        </p:spPr>
      </p:sp>
      <p:sp>
        <p:nvSpPr>
          <p:cNvPr id="52" name="!!c5_0"/>
          <p:cNvSpPr/>
          <p:nvPr/>
        </p:nvSpPr>
        <p:spPr>
          <a:xfrm>
            <a:off x="2377440" y="-6583680"/>
            <a:ext cx="2898648" cy="6035040"/>
          </a:xfrm>
          <a:prstGeom prst="roundRect">
            <a:avLst>
              <a:gd name="adj" fmla="val 13249"/>
            </a:avLst>
          </a:prstGeom>
          <a:solidFill>
            <a:srgbClr val="0B0B0C"/>
          </a:solidFill>
          <a:ln w="15875">
            <a:solidFill>
              <a:srgbClr val="34343A"/>
            </a:solidFill>
            <a:prstDash val="solid"/>
          </a:ln>
          <a:effectLst>
            <a:outerShdw sx="100000" sy="100000" kx="0" ky="0" algn="bl" rotWithShape="0" blurRad="381000" dist="50800" dir="5400000">
              <a:srgbClr val="FF3C33">
                <a:alpha val="18000"/>
              </a:srgbClr>
            </a:outerShdw>
          </a:effectLst>
        </p:spPr>
      </p:sp>
      <p:pic>
        <p:nvPicPr>
          <p:cNvPr id="53" name="!!c5_1" descr="/tmp/deck/a/05-cart-phone-top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78024" y="-6483096"/>
            <a:ext cx="2697480" cy="5833872"/>
          </a:xfrm>
          <a:prstGeom prst="rect">
            <a:avLst/>
          </a:prstGeom>
        </p:spPr>
      </p:pic>
      <p:sp>
        <p:nvSpPr>
          <p:cNvPr id="54" name="!!c5_2"/>
          <p:cNvSpPr txBox="1"/>
          <p:nvPr/>
        </p:nvSpPr>
        <p:spPr>
          <a:xfrm>
            <a:off x="5577840" y="-2133600"/>
            <a:ext cx="603504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Fyll handlekurven</a:t>
            </a:r>
            <a:endParaRPr lang="en-US" sz="4800" dirty="0"/>
          </a:p>
        </p:txBody>
      </p:sp>
      <p:pic>
        <p:nvPicPr>
          <p:cNvPr id="55" name="!!c5_3" descr="/tmp/deck/a/led-1450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577840" y="-1600200"/>
            <a:ext cx="2786143" cy="1051560"/>
          </a:xfrm>
          <a:prstGeom prst="rect">
            <a:avLst/>
          </a:prstGeom>
        </p:spPr>
      </p:pic>
      <p:sp>
        <p:nvSpPr>
          <p:cNvPr id="56" name="!!c5_4"/>
          <p:cNvSpPr txBox="1"/>
          <p:nvPr/>
        </p:nvSpPr>
        <p:spPr>
          <a:xfrm>
            <a:off x="8546863" y="-1051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for tre deler</a:t>
            </a:r>
            <a:endParaRPr lang="en-US" sz="1800" dirty="0"/>
          </a:p>
        </p:txBody>
      </p:sp>
      <p:sp>
        <p:nvSpPr>
          <p:cNvPr id="57" name="!!c5_5"/>
          <p:cNvSpPr txBox="1"/>
          <p:nvPr/>
        </p:nvSpPr>
        <p:spPr>
          <a:xfrm>
            <a:off x="5577840" y="74066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Prisen fryses når kjøperen går til kassen, så beløpet endrer seg ikke underveis.</a:t>
            </a:r>
            <a:endParaRPr lang="en-US" sz="2000" dirty="0"/>
          </a:p>
        </p:txBody>
      </p:sp>
      <p:sp>
        <p:nvSpPr>
          <p:cNvPr id="58" name="!!c5_6"/>
          <p:cNvSpPr/>
          <p:nvPr/>
        </p:nvSpPr>
        <p:spPr>
          <a:xfrm>
            <a:off x="7571232" y="7406640"/>
            <a:ext cx="1856232" cy="713232"/>
          </a:xfrm>
          <a:prstGeom prst="roundRect">
            <a:avLst>
              <a:gd name="adj" fmla="val 15385"/>
            </a:avLst>
          </a:prstGeom>
          <a:solidFill>
            <a:srgbClr val="FF3C33">
              <a:alpha val="12000"/>
            </a:srgbClr>
          </a:solidFill>
          <a:ln w="12700">
            <a:solidFill>
              <a:srgbClr val="FF3C33"/>
            </a:solidFill>
            <a:prstDash val="solid"/>
          </a:ln>
        </p:spPr>
      </p:sp>
      <p:pic>
        <p:nvPicPr>
          <p:cNvPr id="59" name="!!c5_7" descr="/tmp/deck/a/led-step1.png">    </p:cNvPr>
          <p:cNvPicPr>
            <a:picLocks noChangeAspect="1"/>
          </p:cNvPicPr>
          <p:nvPr/>
        </p:nvPicPr>
        <p:blipFill>
          <a:blip r:embed="rId23">
            <a:alphaModFix amt="45000"/>
          </a:blip>
          <a:stretch>
            <a:fillRect/>
          </a:stretch>
        </p:blipFill>
        <p:spPr>
          <a:xfrm>
            <a:off x="5715000" y="7406640"/>
            <a:ext cx="356616" cy="530352"/>
          </a:xfrm>
          <a:prstGeom prst="rect">
            <a:avLst/>
          </a:prstGeom>
        </p:spPr>
      </p:pic>
      <p:sp>
        <p:nvSpPr>
          <p:cNvPr id="60" name="!!c5_8"/>
          <p:cNvSpPr txBox="1"/>
          <p:nvPr/>
        </p:nvSpPr>
        <p:spPr>
          <a:xfrm>
            <a:off x="6172200" y="74066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 delen</a:t>
            </a:r>
            <a:endParaRPr lang="en-US" sz="1500" dirty="0"/>
          </a:p>
        </p:txBody>
      </p:sp>
      <p:pic>
        <p:nvPicPr>
          <p:cNvPr id="61" name="!!c5_9" descr="/tmp/deck/a/led-step2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680960" y="7498080"/>
            <a:ext cx="356616" cy="530352"/>
          </a:xfrm>
          <a:prstGeom prst="rect">
            <a:avLst/>
          </a:prstGeom>
        </p:spPr>
      </p:pic>
      <p:sp>
        <p:nvSpPr>
          <p:cNvPr id="62" name="!!c5_10"/>
          <p:cNvSpPr txBox="1"/>
          <p:nvPr/>
        </p:nvSpPr>
        <p:spPr>
          <a:xfrm>
            <a:off x="8138160" y="749808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Betal i Vipps</a:t>
            </a:r>
            <a:endParaRPr lang="en-US" sz="1500" dirty="0"/>
          </a:p>
        </p:txBody>
      </p:sp>
      <p:pic>
        <p:nvPicPr>
          <p:cNvPr id="63" name="!!c5_11" descr="/tmp/deck/a/led-step3.png">    </p:cNvPr>
          <p:cNvPicPr>
            <a:picLocks noChangeAspect="1"/>
          </p:cNvPicPr>
          <p:nvPr/>
        </p:nvPicPr>
        <p:blipFill>
          <a:blip r:embed="rId25">
            <a:alphaModFix amt="45000"/>
          </a:blip>
          <a:stretch>
            <a:fillRect/>
          </a:stretch>
        </p:blipFill>
        <p:spPr>
          <a:xfrm>
            <a:off x="9646920" y="7406640"/>
            <a:ext cx="356616" cy="530352"/>
          </a:xfrm>
          <a:prstGeom prst="rect">
            <a:avLst/>
          </a:prstGeom>
        </p:spPr>
      </p:pic>
      <p:sp>
        <p:nvSpPr>
          <p:cNvPr id="64" name="!!c5_12"/>
          <p:cNvSpPr txBox="1"/>
          <p:nvPr/>
        </p:nvSpPr>
        <p:spPr>
          <a:xfrm>
            <a:off x="10104120" y="74066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Registrer kjøpet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orbR" descr="/tmp/deck/a/orb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0" y="365760"/>
            <a:ext cx="6400800" cy="6400800"/>
          </a:xfrm>
          <a:prstGeom prst="rect">
            <a:avLst/>
          </a:prstGeom>
        </p:spPr>
      </p:pic>
      <p:pic>
        <p:nvPicPr>
          <p:cNvPr id="4" name="!!orbG" descr="/tmp/deck/a/orb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840480"/>
            <a:ext cx="5486400" cy="5486400"/>
          </a:xfrm>
          <a:prstGeom prst="rect">
            <a:avLst/>
          </a:prstGeom>
        </p:spPr>
      </p:pic>
      <p:pic>
        <p:nvPicPr>
          <p:cNvPr id="5" name="!!log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1600200" cy="294198"/>
          </a:xfrm>
          <a:prstGeom prst="rect">
            <a:avLst/>
          </a:prstGeom>
        </p:spPr>
      </p:pic>
      <p:sp>
        <p:nvSpPr>
          <p:cNvPr id="6" name="!!c5_0"/>
          <p:cNvSpPr/>
          <p:nvPr/>
        </p:nvSpPr>
        <p:spPr>
          <a:xfrm>
            <a:off x="2377440" y="411480"/>
            <a:ext cx="2898648" cy="6035040"/>
          </a:xfrm>
          <a:prstGeom prst="roundRect">
            <a:avLst>
              <a:gd name="adj" fmla="val 13249"/>
            </a:avLst>
          </a:prstGeom>
          <a:solidFill>
            <a:srgbClr val="0B0B0C"/>
          </a:solidFill>
          <a:ln w="15875">
            <a:solidFill>
              <a:srgbClr val="34343A"/>
            </a:solidFill>
            <a:prstDash val="solid"/>
          </a:ln>
          <a:effectLst>
            <a:outerShdw sx="100000" sy="100000" kx="0" ky="0" algn="bl" rotWithShape="0" blurRad="381000" dist="50800" dir="5400000">
              <a:srgbClr val="FF3C33">
                <a:alpha val="18000"/>
              </a:srgbClr>
            </a:outerShdw>
          </a:effectLst>
        </p:spPr>
      </p:sp>
      <p:pic>
        <p:nvPicPr>
          <p:cNvPr id="7" name="!!c5_1" descr="/tmp/deck/a/05-cart-phone-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8024" y="512064"/>
            <a:ext cx="2697480" cy="5833872"/>
          </a:xfrm>
          <a:prstGeom prst="rect">
            <a:avLst/>
          </a:prstGeom>
        </p:spPr>
      </p:pic>
      <p:sp>
        <p:nvSpPr>
          <p:cNvPr id="8" name="!!c5_2"/>
          <p:cNvSpPr txBox="1"/>
          <p:nvPr/>
        </p:nvSpPr>
        <p:spPr>
          <a:xfrm>
            <a:off x="5577840" y="1143000"/>
            <a:ext cx="603504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Fyll handlekurven</a:t>
            </a:r>
            <a:endParaRPr lang="en-US" sz="4800" dirty="0"/>
          </a:p>
        </p:txBody>
      </p:sp>
      <p:pic>
        <p:nvPicPr>
          <p:cNvPr id="9" name="!!c5_3" descr="/tmp/deck/a/led-145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2240280"/>
            <a:ext cx="2786143" cy="1051560"/>
          </a:xfrm>
          <a:prstGeom prst="rect">
            <a:avLst/>
          </a:prstGeom>
        </p:spPr>
      </p:pic>
      <p:sp>
        <p:nvSpPr>
          <p:cNvPr id="10" name="!!c5_4"/>
          <p:cNvSpPr txBox="1"/>
          <p:nvPr/>
        </p:nvSpPr>
        <p:spPr>
          <a:xfrm>
            <a:off x="8546863" y="2788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for tre deler</a:t>
            </a:r>
            <a:endParaRPr lang="en-US" sz="1800" dirty="0"/>
          </a:p>
        </p:txBody>
      </p:sp>
      <p:sp>
        <p:nvSpPr>
          <p:cNvPr id="11" name="!!c5_5"/>
          <p:cNvSpPr txBox="1"/>
          <p:nvPr/>
        </p:nvSpPr>
        <p:spPr>
          <a:xfrm>
            <a:off x="5577840" y="37033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Prisen fryses når kjøperen går til kassen, så beløpet endrer seg ikke underveis.</a:t>
            </a:r>
            <a:endParaRPr lang="en-US" sz="2000" dirty="0"/>
          </a:p>
        </p:txBody>
      </p:sp>
      <p:sp>
        <p:nvSpPr>
          <p:cNvPr id="12" name="!!c5_6"/>
          <p:cNvSpPr/>
          <p:nvPr/>
        </p:nvSpPr>
        <p:spPr>
          <a:xfrm>
            <a:off x="7571232" y="5440680"/>
            <a:ext cx="1856232" cy="713232"/>
          </a:xfrm>
          <a:prstGeom prst="roundRect">
            <a:avLst>
              <a:gd name="adj" fmla="val 15385"/>
            </a:avLst>
          </a:prstGeom>
          <a:solidFill>
            <a:srgbClr val="FF3C33">
              <a:alpha val="12000"/>
            </a:srgbClr>
          </a:solidFill>
          <a:ln w="12700">
            <a:solidFill>
              <a:srgbClr val="FF3C33"/>
            </a:solidFill>
            <a:prstDash val="solid"/>
          </a:ln>
        </p:spPr>
      </p:sp>
      <p:pic>
        <p:nvPicPr>
          <p:cNvPr id="13" name="!!c5_7" descr="/tmp/deck/a/led-step1.png">    </p:cNvPr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>
            <a:off x="5715000" y="5532120"/>
            <a:ext cx="356616" cy="530352"/>
          </a:xfrm>
          <a:prstGeom prst="rect">
            <a:avLst/>
          </a:prstGeom>
        </p:spPr>
      </p:pic>
      <p:sp>
        <p:nvSpPr>
          <p:cNvPr id="14" name="!!c5_8"/>
          <p:cNvSpPr txBox="1"/>
          <p:nvPr/>
        </p:nvSpPr>
        <p:spPr>
          <a:xfrm>
            <a:off x="6172200" y="55321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 delen</a:t>
            </a:r>
            <a:endParaRPr lang="en-US" sz="1500" dirty="0"/>
          </a:p>
        </p:txBody>
      </p:sp>
      <p:pic>
        <p:nvPicPr>
          <p:cNvPr id="15" name="!!c5_9" descr="/tmp/deck/a/led-step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5532120"/>
            <a:ext cx="356616" cy="530352"/>
          </a:xfrm>
          <a:prstGeom prst="rect">
            <a:avLst/>
          </a:prstGeom>
        </p:spPr>
      </p:pic>
      <p:sp>
        <p:nvSpPr>
          <p:cNvPr id="16" name="!!c5_10"/>
          <p:cNvSpPr txBox="1"/>
          <p:nvPr/>
        </p:nvSpPr>
        <p:spPr>
          <a:xfrm>
            <a:off x="8138160" y="55321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Betal i Vipps</a:t>
            </a:r>
            <a:endParaRPr lang="en-US" sz="1500" dirty="0"/>
          </a:p>
        </p:txBody>
      </p:sp>
      <p:pic>
        <p:nvPicPr>
          <p:cNvPr id="17" name="!!c5_11" descr="/tmp/deck/a/led-step3.png">    </p:cNvPr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>
            <a:off x="9646920" y="5532120"/>
            <a:ext cx="356616" cy="530352"/>
          </a:xfrm>
          <a:prstGeom prst="rect">
            <a:avLst/>
          </a:prstGeom>
        </p:spPr>
      </p:pic>
      <p:sp>
        <p:nvSpPr>
          <p:cNvPr id="18" name="!!c5_12"/>
          <p:cNvSpPr txBox="1"/>
          <p:nvPr/>
        </p:nvSpPr>
        <p:spPr>
          <a:xfrm>
            <a:off x="10104120" y="55321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Registrer kjøpet</a:t>
            </a:r>
            <a:endParaRPr lang="en-US" sz="1500" dirty="0"/>
          </a:p>
        </p:txBody>
      </p:sp>
      <p:sp>
        <p:nvSpPr>
          <p:cNvPr id="19" name="!!c4_0"/>
          <p:cNvSpPr/>
          <p:nvPr/>
        </p:nvSpPr>
        <p:spPr>
          <a:xfrm>
            <a:off x="12740335" y="411480"/>
            <a:ext cx="2898648" cy="6035040"/>
          </a:xfrm>
          <a:prstGeom prst="roundRect">
            <a:avLst>
              <a:gd name="adj" fmla="val 13249"/>
            </a:avLst>
          </a:prstGeom>
          <a:solidFill>
            <a:srgbClr val="0B0B0C"/>
          </a:solidFill>
          <a:ln w="15875">
            <a:solidFill>
              <a:srgbClr val="34343A"/>
            </a:solidFill>
            <a:prstDash val="solid"/>
          </a:ln>
          <a:effectLst>
            <a:outerShdw sx="100000" sy="100000" kx="0" ky="0" algn="bl" rotWithShape="0" blurRad="381000" dist="50800" dir="5400000">
              <a:srgbClr val="FF3C33">
                <a:alpha val="18000"/>
              </a:srgbClr>
            </a:outerShdw>
          </a:effectLst>
        </p:spPr>
      </p:sp>
      <p:pic>
        <p:nvPicPr>
          <p:cNvPr id="20" name="!!c4_1" descr="/tmp/deck/a/04-product-RES-00005-phon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40919" y="512064"/>
            <a:ext cx="2697480" cy="5833872"/>
          </a:xfrm>
          <a:prstGeom prst="rect">
            <a:avLst/>
          </a:prstGeom>
        </p:spPr>
      </p:pic>
      <p:sp>
        <p:nvSpPr>
          <p:cNvPr id="21" name="!!c4_2"/>
          <p:cNvSpPr txBox="1"/>
          <p:nvPr/>
        </p:nvSpPr>
        <p:spPr>
          <a:xfrm>
            <a:off x="548640" y="-2133600"/>
            <a:ext cx="685800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 delen</a:t>
            </a:r>
            <a:endParaRPr lang="en-US" sz="4800" dirty="0"/>
          </a:p>
        </p:txBody>
      </p:sp>
      <p:sp>
        <p:nvSpPr>
          <p:cNvPr id="22" name="!!c4_3"/>
          <p:cNvSpPr txBox="1"/>
          <p:nvPr/>
        </p:nvSpPr>
        <p:spPr>
          <a:xfrm>
            <a:off x="548640" y="-19202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Skann QR-koden på skuffen, eller slå opp koden i delekatalogen. Produktsiden viser pris, beholdning og hvor delen ligger.</a:t>
            </a:r>
            <a:endParaRPr lang="en-US" sz="2000" dirty="0"/>
          </a:p>
        </p:txBody>
      </p:sp>
      <p:sp>
        <p:nvSpPr>
          <p:cNvPr id="23" name="!!c4_4"/>
          <p:cNvSpPr txBox="1"/>
          <p:nvPr/>
        </p:nvSpPr>
        <p:spPr>
          <a:xfrm>
            <a:off x="-1988820" y="3703320"/>
            <a:ext cx="1440180" cy="384048"/>
          </a:xfrm>
          <a:prstGeom prst="roundRect">
            <a:avLst>
              <a:gd name="adj" fmla="val 50000"/>
            </a:avLst>
          </a:prstGeom>
          <a:solidFill>
            <a:srgbClr val="0F0F11"/>
          </a:solidFill>
          <a:ln w="12700">
            <a:solidFill>
              <a:srgbClr val="2A2A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konto</a:t>
            </a:r>
            <a:endParaRPr lang="en-US" sz="1300" dirty="0"/>
          </a:p>
        </p:txBody>
      </p:sp>
      <p:sp>
        <p:nvSpPr>
          <p:cNvPr id="24" name="!!c4_5"/>
          <p:cNvSpPr txBox="1"/>
          <p:nvPr/>
        </p:nvSpPr>
        <p:spPr>
          <a:xfrm>
            <a:off x="-1796796" y="3703320"/>
            <a:ext cx="1248156" cy="384048"/>
          </a:xfrm>
          <a:prstGeom prst="roundRect">
            <a:avLst>
              <a:gd name="adj" fmla="val 50000"/>
            </a:avLst>
          </a:prstGeom>
          <a:solidFill>
            <a:srgbClr val="0F0F11"/>
          </a:solidFill>
          <a:ln w="12700">
            <a:solidFill>
              <a:srgbClr val="2A2A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app</a:t>
            </a:r>
            <a:endParaRPr lang="en-US" sz="1300" dirty="0"/>
          </a:p>
        </p:txBody>
      </p:sp>
      <p:sp>
        <p:nvSpPr>
          <p:cNvPr id="25" name="!!c4_6"/>
          <p:cNvSpPr txBox="1"/>
          <p:nvPr/>
        </p:nvSpPr>
        <p:spPr>
          <a:xfrm>
            <a:off x="3493008" y="740664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0F0F11"/>
          </a:solidFill>
          <a:ln w="12700">
            <a:solidFill>
              <a:srgbClr val="2A2A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Norsk og engelsk</a:t>
            </a:r>
            <a:endParaRPr lang="en-US" sz="1300" dirty="0"/>
          </a:p>
        </p:txBody>
      </p:sp>
      <p:sp>
        <p:nvSpPr>
          <p:cNvPr id="26" name="!!c4_7"/>
          <p:cNvSpPr txBox="1"/>
          <p:nvPr/>
        </p:nvSpPr>
        <p:spPr>
          <a:xfrm>
            <a:off x="5541264" y="7406640"/>
            <a:ext cx="2016252" cy="384048"/>
          </a:xfrm>
          <a:prstGeom prst="roundRect">
            <a:avLst>
              <a:gd name="adj" fmla="val 50000"/>
            </a:avLst>
          </a:prstGeom>
          <a:solidFill>
            <a:srgbClr val="0F0F11"/>
          </a:solidFill>
          <a:ln w="12700">
            <a:solidFill>
              <a:srgbClr val="2A2A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Mørk og lys modus</a:t>
            </a:r>
            <a:endParaRPr lang="en-US" sz="1300" dirty="0"/>
          </a:p>
        </p:txBody>
      </p:sp>
      <p:sp>
        <p:nvSpPr>
          <p:cNvPr id="27" name="!!c4_8"/>
          <p:cNvSpPr/>
          <p:nvPr/>
        </p:nvSpPr>
        <p:spPr>
          <a:xfrm>
            <a:off x="576072" y="7406640"/>
            <a:ext cx="1856232" cy="713232"/>
          </a:xfrm>
          <a:prstGeom prst="roundRect">
            <a:avLst>
              <a:gd name="adj" fmla="val 15385"/>
            </a:avLst>
          </a:prstGeom>
          <a:solidFill>
            <a:srgbClr val="FF3C33">
              <a:alpha val="12000"/>
            </a:srgbClr>
          </a:solidFill>
          <a:ln w="12700">
            <a:solidFill>
              <a:srgbClr val="FF3C33"/>
            </a:solidFill>
            <a:prstDash val="solid"/>
          </a:ln>
        </p:spPr>
      </p:sp>
      <p:pic>
        <p:nvPicPr>
          <p:cNvPr id="28" name="!!c4_9" descr="/tmp/deck/a/led-step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7498080"/>
            <a:ext cx="356616" cy="530352"/>
          </a:xfrm>
          <a:prstGeom prst="rect">
            <a:avLst/>
          </a:prstGeom>
        </p:spPr>
      </p:pic>
      <p:sp>
        <p:nvSpPr>
          <p:cNvPr id="29" name="!!c4_10"/>
          <p:cNvSpPr txBox="1"/>
          <p:nvPr/>
        </p:nvSpPr>
        <p:spPr>
          <a:xfrm>
            <a:off x="1143000" y="749808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 delen</a:t>
            </a:r>
            <a:endParaRPr lang="en-US" sz="1500" dirty="0"/>
          </a:p>
        </p:txBody>
      </p:sp>
      <p:pic>
        <p:nvPicPr>
          <p:cNvPr id="30" name="!!c4_11" descr="/tmp/deck/a/led-step2.png">    </p:cNvPr>
          <p:cNvPicPr>
            <a:picLocks noChangeAspect="1"/>
          </p:cNvPicPr>
          <p:nvPr/>
        </p:nvPicPr>
        <p:blipFill>
          <a:blip r:embed="rId11">
            <a:alphaModFix amt="45000"/>
          </a:blip>
          <a:stretch>
            <a:fillRect/>
          </a:stretch>
        </p:blipFill>
        <p:spPr>
          <a:xfrm>
            <a:off x="2651760" y="7406640"/>
            <a:ext cx="356616" cy="530352"/>
          </a:xfrm>
          <a:prstGeom prst="rect">
            <a:avLst/>
          </a:prstGeom>
        </p:spPr>
      </p:pic>
      <p:sp>
        <p:nvSpPr>
          <p:cNvPr id="31" name="!!c4_12"/>
          <p:cNvSpPr txBox="1"/>
          <p:nvPr/>
        </p:nvSpPr>
        <p:spPr>
          <a:xfrm>
            <a:off x="3108960" y="74066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Betal i Vipps</a:t>
            </a:r>
            <a:endParaRPr lang="en-US" sz="1500" dirty="0"/>
          </a:p>
        </p:txBody>
      </p:sp>
      <p:pic>
        <p:nvPicPr>
          <p:cNvPr id="32" name="!!c4_13" descr="/tmp/deck/a/led-step3.png">    </p:cNvPr>
          <p:cNvPicPr>
            <a:picLocks noChangeAspect="1"/>
          </p:cNvPicPr>
          <p:nvPr/>
        </p:nvPicPr>
        <p:blipFill>
          <a:blip r:embed="rId12">
            <a:alphaModFix amt="45000"/>
          </a:blip>
          <a:stretch>
            <a:fillRect/>
          </a:stretch>
        </p:blipFill>
        <p:spPr>
          <a:xfrm>
            <a:off x="4617720" y="7406640"/>
            <a:ext cx="356616" cy="530352"/>
          </a:xfrm>
          <a:prstGeom prst="rect">
            <a:avLst/>
          </a:prstGeom>
        </p:spPr>
      </p:pic>
      <p:sp>
        <p:nvSpPr>
          <p:cNvPr id="33" name="!!c4_14"/>
          <p:cNvSpPr txBox="1"/>
          <p:nvPr/>
        </p:nvSpPr>
        <p:spPr>
          <a:xfrm>
            <a:off x="5074920" y="74066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Registrer kjøpet</a:t>
            </a:r>
            <a:endParaRPr lang="en-US" sz="1500" dirty="0"/>
          </a:p>
        </p:txBody>
      </p:sp>
      <p:sp>
        <p:nvSpPr>
          <p:cNvPr id="34" name="!!c6_0"/>
          <p:cNvSpPr/>
          <p:nvPr/>
        </p:nvSpPr>
        <p:spPr>
          <a:xfrm>
            <a:off x="12740335" y="411480"/>
            <a:ext cx="2898648" cy="6035040"/>
          </a:xfrm>
          <a:prstGeom prst="roundRect">
            <a:avLst>
              <a:gd name="adj" fmla="val 13249"/>
            </a:avLst>
          </a:prstGeom>
          <a:solidFill>
            <a:srgbClr val="0B0B0C"/>
          </a:solidFill>
          <a:ln w="15875">
            <a:solidFill>
              <a:srgbClr val="34343A"/>
            </a:solidFill>
            <a:prstDash val="solid"/>
          </a:ln>
          <a:effectLst>
            <a:outerShdw sx="100000" sy="100000" kx="0" ky="0" algn="bl" rotWithShape="0" blurRad="381000" dist="50800" dir="5400000">
              <a:srgbClr val="FF3C33">
                <a:alpha val="18000"/>
              </a:srgbClr>
            </a:outerShdw>
          </a:effectLst>
        </p:spPr>
      </p:sp>
      <p:pic>
        <p:nvPicPr>
          <p:cNvPr id="35" name="!!c6_1" descr="/tmp/deck/a/06-checkout-phone-vipps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840919" y="512064"/>
            <a:ext cx="2697480" cy="5833872"/>
          </a:xfrm>
          <a:prstGeom prst="rect">
            <a:avLst/>
          </a:prstGeom>
        </p:spPr>
      </p:pic>
      <p:sp>
        <p:nvSpPr>
          <p:cNvPr id="36" name="!!c6_2"/>
          <p:cNvSpPr txBox="1"/>
          <p:nvPr/>
        </p:nvSpPr>
        <p:spPr>
          <a:xfrm>
            <a:off x="548640" y="-2133600"/>
            <a:ext cx="685800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Betal i Vipps</a:t>
            </a:r>
            <a:endParaRPr lang="en-US" sz="4800" dirty="0"/>
          </a:p>
        </p:txBody>
      </p:sp>
      <p:pic>
        <p:nvPicPr>
          <p:cNvPr id="37" name="!!c6_3" descr="/tmp/deck/a/led-1450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3334783" y="2240280"/>
            <a:ext cx="2786143" cy="1051560"/>
          </a:xfrm>
          <a:prstGeom prst="rect">
            <a:avLst/>
          </a:prstGeom>
        </p:spPr>
      </p:pic>
      <p:sp>
        <p:nvSpPr>
          <p:cNvPr id="38" name="!!c6_4"/>
          <p:cNvSpPr txBox="1"/>
          <p:nvPr/>
        </p:nvSpPr>
        <p:spPr>
          <a:xfrm>
            <a:off x="-3108960" y="2788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til Vipps 47322</a:t>
            </a:r>
            <a:endParaRPr lang="en-US" sz="1800" dirty="0"/>
          </a:p>
        </p:txBody>
      </p:sp>
      <p:sp>
        <p:nvSpPr>
          <p:cNvPr id="39" name="!!c6_5"/>
          <p:cNvSpPr txBox="1"/>
          <p:nvPr/>
        </p:nvSpPr>
        <p:spPr>
          <a:xfrm>
            <a:off x="548640" y="74066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Kjøperen betaler i sin egen Vipps-app. Mister hen nettet etterpå, fortsetter hen samme kjøp og betaler aldri to ganger.</a:t>
            </a:r>
            <a:endParaRPr lang="en-US" sz="2000" dirty="0"/>
          </a:p>
        </p:txBody>
      </p:sp>
      <p:sp>
        <p:nvSpPr>
          <p:cNvPr id="40" name="!!c6_6"/>
          <p:cNvSpPr/>
          <p:nvPr/>
        </p:nvSpPr>
        <p:spPr>
          <a:xfrm>
            <a:off x="2542032" y="7406640"/>
            <a:ext cx="1856232" cy="713232"/>
          </a:xfrm>
          <a:prstGeom prst="roundRect">
            <a:avLst>
              <a:gd name="adj" fmla="val 15385"/>
            </a:avLst>
          </a:prstGeom>
          <a:solidFill>
            <a:srgbClr val="FF3C33">
              <a:alpha val="12000"/>
            </a:srgbClr>
          </a:solidFill>
          <a:ln w="12700">
            <a:solidFill>
              <a:srgbClr val="FF3C33"/>
            </a:solidFill>
            <a:prstDash val="solid"/>
          </a:ln>
        </p:spPr>
      </p:sp>
      <p:pic>
        <p:nvPicPr>
          <p:cNvPr id="41" name="!!c6_7" descr="/tmp/deck/a/led-step1.png">    </p:cNvPr>
          <p:cNvPicPr>
            <a:picLocks noChangeAspect="1"/>
          </p:cNvPicPr>
          <p:nvPr/>
        </p:nvPicPr>
        <p:blipFill>
          <a:blip r:embed="rId15">
            <a:alphaModFix amt="45000"/>
          </a:blip>
          <a:stretch>
            <a:fillRect/>
          </a:stretch>
        </p:blipFill>
        <p:spPr>
          <a:xfrm>
            <a:off x="-905256" y="5532120"/>
            <a:ext cx="356616" cy="530352"/>
          </a:xfrm>
          <a:prstGeom prst="rect">
            <a:avLst/>
          </a:prstGeom>
        </p:spPr>
      </p:pic>
      <p:sp>
        <p:nvSpPr>
          <p:cNvPr id="42" name="!!c6_8"/>
          <p:cNvSpPr txBox="1"/>
          <p:nvPr/>
        </p:nvSpPr>
        <p:spPr>
          <a:xfrm>
            <a:off x="1143000" y="74066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 delen</a:t>
            </a:r>
            <a:endParaRPr lang="en-US" sz="1500" dirty="0"/>
          </a:p>
        </p:txBody>
      </p:sp>
      <p:pic>
        <p:nvPicPr>
          <p:cNvPr id="43" name="!!c6_9" descr="/tmp/deck/a/led-step2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51760" y="7498080"/>
            <a:ext cx="356616" cy="530352"/>
          </a:xfrm>
          <a:prstGeom prst="rect">
            <a:avLst/>
          </a:prstGeom>
        </p:spPr>
      </p:pic>
      <p:sp>
        <p:nvSpPr>
          <p:cNvPr id="44" name="!!c6_10"/>
          <p:cNvSpPr txBox="1"/>
          <p:nvPr/>
        </p:nvSpPr>
        <p:spPr>
          <a:xfrm>
            <a:off x="3108960" y="749808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Betal i Vipps</a:t>
            </a:r>
            <a:endParaRPr lang="en-US" sz="1500" dirty="0"/>
          </a:p>
        </p:txBody>
      </p:sp>
      <p:pic>
        <p:nvPicPr>
          <p:cNvPr id="45" name="!!c6_11" descr="/tmp/deck/a/led-step3.png">    </p:cNvPr>
          <p:cNvPicPr>
            <a:picLocks noChangeAspect="1"/>
          </p:cNvPicPr>
          <p:nvPr/>
        </p:nvPicPr>
        <p:blipFill>
          <a:blip r:embed="rId17">
            <a:alphaModFix amt="45000"/>
          </a:blip>
          <a:stretch>
            <a:fillRect/>
          </a:stretch>
        </p:blipFill>
        <p:spPr>
          <a:xfrm>
            <a:off x="4617720" y="7406640"/>
            <a:ext cx="356616" cy="530352"/>
          </a:xfrm>
          <a:prstGeom prst="rect">
            <a:avLst/>
          </a:prstGeom>
        </p:spPr>
      </p:pic>
      <p:sp>
        <p:nvSpPr>
          <p:cNvPr id="46" name="!!c6_12"/>
          <p:cNvSpPr txBox="1"/>
          <p:nvPr/>
        </p:nvSpPr>
        <p:spPr>
          <a:xfrm>
            <a:off x="5074920" y="74066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Registrer kjøpet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orbR" descr="/tmp/deck/a/orb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560320"/>
            <a:ext cx="6400800" cy="6400800"/>
          </a:xfrm>
          <a:prstGeom prst="rect">
            <a:avLst/>
          </a:prstGeom>
        </p:spPr>
      </p:pic>
      <p:pic>
        <p:nvPicPr>
          <p:cNvPr id="4" name="!!orbG" descr="/tmp/deck/a/orb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00" y="3200400"/>
            <a:ext cx="5486400" cy="5486400"/>
          </a:xfrm>
          <a:prstGeom prst="rect">
            <a:avLst/>
          </a:prstGeom>
        </p:spPr>
      </p:pic>
      <p:pic>
        <p:nvPicPr>
          <p:cNvPr id="5" name="!!log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1600200" cy="294198"/>
          </a:xfrm>
          <a:prstGeom prst="rect">
            <a:avLst/>
          </a:prstGeom>
        </p:spPr>
      </p:pic>
      <p:sp>
        <p:nvSpPr>
          <p:cNvPr id="6" name="!!c6_0"/>
          <p:cNvSpPr/>
          <p:nvPr/>
        </p:nvSpPr>
        <p:spPr>
          <a:xfrm>
            <a:off x="8138160" y="411480"/>
            <a:ext cx="2898648" cy="6035040"/>
          </a:xfrm>
          <a:prstGeom prst="roundRect">
            <a:avLst>
              <a:gd name="adj" fmla="val 13249"/>
            </a:avLst>
          </a:prstGeom>
          <a:solidFill>
            <a:srgbClr val="0B0B0C"/>
          </a:solidFill>
          <a:ln w="15875">
            <a:solidFill>
              <a:srgbClr val="34343A"/>
            </a:solidFill>
            <a:prstDash val="solid"/>
          </a:ln>
          <a:effectLst>
            <a:outerShdw sx="100000" sy="100000" kx="0" ky="0" algn="bl" rotWithShape="0" blurRad="381000" dist="50800" dir="5400000">
              <a:srgbClr val="FF3C33">
                <a:alpha val="18000"/>
              </a:srgbClr>
            </a:outerShdw>
          </a:effectLst>
        </p:spPr>
      </p:sp>
      <p:pic>
        <p:nvPicPr>
          <p:cNvPr id="7" name="!!c6_1" descr="/tmp/deck/a/06-checkout-phone-vipp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744" y="512064"/>
            <a:ext cx="2697480" cy="5833872"/>
          </a:xfrm>
          <a:prstGeom prst="rect">
            <a:avLst/>
          </a:prstGeom>
        </p:spPr>
      </p:pic>
      <p:sp>
        <p:nvSpPr>
          <p:cNvPr id="8" name="!!c6_2"/>
          <p:cNvSpPr txBox="1"/>
          <p:nvPr/>
        </p:nvSpPr>
        <p:spPr>
          <a:xfrm>
            <a:off x="548640" y="1143000"/>
            <a:ext cx="685800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Betal i Vipps</a:t>
            </a:r>
            <a:endParaRPr lang="en-US" sz="4800" dirty="0"/>
          </a:p>
        </p:txBody>
      </p:sp>
      <p:pic>
        <p:nvPicPr>
          <p:cNvPr id="9" name="!!c6_3" descr="/tmp/deck/a/led-145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240280"/>
            <a:ext cx="2786143" cy="1051560"/>
          </a:xfrm>
          <a:prstGeom prst="rect">
            <a:avLst/>
          </a:prstGeom>
        </p:spPr>
      </p:pic>
      <p:sp>
        <p:nvSpPr>
          <p:cNvPr id="10" name="!!c6_4"/>
          <p:cNvSpPr txBox="1"/>
          <p:nvPr/>
        </p:nvSpPr>
        <p:spPr>
          <a:xfrm>
            <a:off x="3517663" y="2788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til Vipps 47322</a:t>
            </a:r>
            <a:endParaRPr lang="en-US" sz="1800" dirty="0"/>
          </a:p>
        </p:txBody>
      </p:sp>
      <p:sp>
        <p:nvSpPr>
          <p:cNvPr id="11" name="!!c6_5"/>
          <p:cNvSpPr txBox="1"/>
          <p:nvPr/>
        </p:nvSpPr>
        <p:spPr>
          <a:xfrm>
            <a:off x="548640" y="370332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Kjøperen betaler i sin egen Vipps-app. Mister hen nettet etterpå, fortsetter hen samme kjøp og betaler aldri to ganger.</a:t>
            </a:r>
            <a:endParaRPr lang="en-US" sz="2000" dirty="0"/>
          </a:p>
        </p:txBody>
      </p:sp>
      <p:sp>
        <p:nvSpPr>
          <p:cNvPr id="12" name="!!c6_6"/>
          <p:cNvSpPr/>
          <p:nvPr/>
        </p:nvSpPr>
        <p:spPr>
          <a:xfrm>
            <a:off x="2542032" y="5440680"/>
            <a:ext cx="1856232" cy="713232"/>
          </a:xfrm>
          <a:prstGeom prst="roundRect">
            <a:avLst>
              <a:gd name="adj" fmla="val 15385"/>
            </a:avLst>
          </a:prstGeom>
          <a:solidFill>
            <a:srgbClr val="FF3C33">
              <a:alpha val="12000"/>
            </a:srgbClr>
          </a:solidFill>
          <a:ln w="12700">
            <a:solidFill>
              <a:srgbClr val="FF3C33"/>
            </a:solidFill>
            <a:prstDash val="solid"/>
          </a:ln>
        </p:spPr>
      </p:sp>
      <p:pic>
        <p:nvPicPr>
          <p:cNvPr id="13" name="!!c6_7" descr="/tmp/deck/a/led-step1.png">    </p:cNvPr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>
            <a:off x="685800" y="5532120"/>
            <a:ext cx="356616" cy="530352"/>
          </a:xfrm>
          <a:prstGeom prst="rect">
            <a:avLst/>
          </a:prstGeom>
        </p:spPr>
      </p:pic>
      <p:sp>
        <p:nvSpPr>
          <p:cNvPr id="14" name="!!c6_8"/>
          <p:cNvSpPr txBox="1"/>
          <p:nvPr/>
        </p:nvSpPr>
        <p:spPr>
          <a:xfrm>
            <a:off x="1143000" y="55321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 delen</a:t>
            </a:r>
            <a:endParaRPr lang="en-US" sz="1500" dirty="0"/>
          </a:p>
        </p:txBody>
      </p:sp>
      <p:pic>
        <p:nvPicPr>
          <p:cNvPr id="15" name="!!c6_9" descr="/tmp/deck/a/led-step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760" y="5532120"/>
            <a:ext cx="356616" cy="530352"/>
          </a:xfrm>
          <a:prstGeom prst="rect">
            <a:avLst/>
          </a:prstGeom>
        </p:spPr>
      </p:pic>
      <p:sp>
        <p:nvSpPr>
          <p:cNvPr id="16" name="!!c6_10"/>
          <p:cNvSpPr txBox="1"/>
          <p:nvPr/>
        </p:nvSpPr>
        <p:spPr>
          <a:xfrm>
            <a:off x="3108960" y="55321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Betal i Vipps</a:t>
            </a:r>
            <a:endParaRPr lang="en-US" sz="1500" dirty="0"/>
          </a:p>
        </p:txBody>
      </p:sp>
      <p:pic>
        <p:nvPicPr>
          <p:cNvPr id="17" name="!!c6_11" descr="/tmp/deck/a/led-step3.png">    </p:cNvPr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>
            <a:off x="4617720" y="5532120"/>
            <a:ext cx="356616" cy="530352"/>
          </a:xfrm>
          <a:prstGeom prst="rect">
            <a:avLst/>
          </a:prstGeom>
        </p:spPr>
      </p:pic>
      <p:sp>
        <p:nvSpPr>
          <p:cNvPr id="18" name="!!c6_12"/>
          <p:cNvSpPr txBox="1"/>
          <p:nvPr/>
        </p:nvSpPr>
        <p:spPr>
          <a:xfrm>
            <a:off x="5074920" y="55321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Registrer kjøpet</a:t>
            </a:r>
            <a:endParaRPr lang="en-US" sz="1500" dirty="0"/>
          </a:p>
        </p:txBody>
      </p:sp>
      <p:sp>
        <p:nvSpPr>
          <p:cNvPr id="19" name="!!c5_0"/>
          <p:cNvSpPr/>
          <p:nvPr/>
        </p:nvSpPr>
        <p:spPr>
          <a:xfrm>
            <a:off x="2377440" y="-6583680"/>
            <a:ext cx="2898648" cy="6035040"/>
          </a:xfrm>
          <a:prstGeom prst="roundRect">
            <a:avLst>
              <a:gd name="adj" fmla="val 13249"/>
            </a:avLst>
          </a:prstGeom>
          <a:solidFill>
            <a:srgbClr val="0B0B0C"/>
          </a:solidFill>
          <a:ln w="15875">
            <a:solidFill>
              <a:srgbClr val="34343A"/>
            </a:solidFill>
            <a:prstDash val="solid"/>
          </a:ln>
          <a:effectLst>
            <a:outerShdw sx="100000" sy="100000" kx="0" ky="0" algn="bl" rotWithShape="0" blurRad="381000" dist="50800" dir="5400000">
              <a:srgbClr val="FF3C33">
                <a:alpha val="18000"/>
              </a:srgbClr>
            </a:outerShdw>
          </a:effectLst>
        </p:spPr>
      </p:sp>
      <p:pic>
        <p:nvPicPr>
          <p:cNvPr id="20" name="!!c5_1" descr="/tmp/deck/a/05-cart-phone-top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8024" y="-6483096"/>
            <a:ext cx="2697480" cy="5833872"/>
          </a:xfrm>
          <a:prstGeom prst="rect">
            <a:avLst/>
          </a:prstGeom>
        </p:spPr>
      </p:pic>
      <p:sp>
        <p:nvSpPr>
          <p:cNvPr id="21" name="!!c5_2"/>
          <p:cNvSpPr txBox="1"/>
          <p:nvPr/>
        </p:nvSpPr>
        <p:spPr>
          <a:xfrm>
            <a:off x="5577840" y="-2133600"/>
            <a:ext cx="603504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Fyll handlekurven</a:t>
            </a:r>
            <a:endParaRPr lang="en-US" sz="4800" dirty="0"/>
          </a:p>
        </p:txBody>
      </p:sp>
      <p:pic>
        <p:nvPicPr>
          <p:cNvPr id="22" name="!!c5_3" descr="/tmp/deck/a/led-145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77840" y="-1600200"/>
            <a:ext cx="2786143" cy="1051560"/>
          </a:xfrm>
          <a:prstGeom prst="rect">
            <a:avLst/>
          </a:prstGeom>
        </p:spPr>
      </p:pic>
      <p:sp>
        <p:nvSpPr>
          <p:cNvPr id="23" name="!!c5_4"/>
          <p:cNvSpPr txBox="1"/>
          <p:nvPr/>
        </p:nvSpPr>
        <p:spPr>
          <a:xfrm>
            <a:off x="8546863" y="-1051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for tre deler</a:t>
            </a:r>
            <a:endParaRPr lang="en-US" sz="1800" dirty="0"/>
          </a:p>
        </p:txBody>
      </p:sp>
      <p:sp>
        <p:nvSpPr>
          <p:cNvPr id="24" name="!!c5_5"/>
          <p:cNvSpPr txBox="1"/>
          <p:nvPr/>
        </p:nvSpPr>
        <p:spPr>
          <a:xfrm>
            <a:off x="5577840" y="74066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Prisen fryses når kjøperen går til kassen, så beløpet endrer seg ikke underveis.</a:t>
            </a:r>
            <a:endParaRPr lang="en-US" sz="2000" dirty="0"/>
          </a:p>
        </p:txBody>
      </p:sp>
      <p:sp>
        <p:nvSpPr>
          <p:cNvPr id="25" name="!!c5_6"/>
          <p:cNvSpPr/>
          <p:nvPr/>
        </p:nvSpPr>
        <p:spPr>
          <a:xfrm>
            <a:off x="7571232" y="7406640"/>
            <a:ext cx="1856232" cy="713232"/>
          </a:xfrm>
          <a:prstGeom prst="roundRect">
            <a:avLst>
              <a:gd name="adj" fmla="val 15385"/>
            </a:avLst>
          </a:prstGeom>
          <a:solidFill>
            <a:srgbClr val="FF3C33">
              <a:alpha val="12000"/>
            </a:srgbClr>
          </a:solidFill>
          <a:ln w="12700">
            <a:solidFill>
              <a:srgbClr val="FF3C33"/>
            </a:solidFill>
            <a:prstDash val="solid"/>
          </a:ln>
        </p:spPr>
      </p:sp>
      <p:pic>
        <p:nvPicPr>
          <p:cNvPr id="26" name="!!c5_7" descr="/tmp/deck/a/led-step1.png">    </p:cNvPr>
          <p:cNvPicPr>
            <a:picLocks noChangeAspect="1"/>
          </p:cNvPicPr>
          <p:nvPr/>
        </p:nvPicPr>
        <p:blipFill>
          <a:blip r:embed="rId11">
            <a:alphaModFix amt="45000"/>
          </a:blip>
          <a:stretch>
            <a:fillRect/>
          </a:stretch>
        </p:blipFill>
        <p:spPr>
          <a:xfrm>
            <a:off x="5715000" y="7406640"/>
            <a:ext cx="356616" cy="530352"/>
          </a:xfrm>
          <a:prstGeom prst="rect">
            <a:avLst/>
          </a:prstGeom>
        </p:spPr>
      </p:pic>
      <p:sp>
        <p:nvSpPr>
          <p:cNvPr id="27" name="!!c5_8"/>
          <p:cNvSpPr txBox="1"/>
          <p:nvPr/>
        </p:nvSpPr>
        <p:spPr>
          <a:xfrm>
            <a:off x="6172200" y="74066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 delen</a:t>
            </a:r>
            <a:endParaRPr lang="en-US" sz="1500" dirty="0"/>
          </a:p>
        </p:txBody>
      </p:sp>
      <p:pic>
        <p:nvPicPr>
          <p:cNvPr id="28" name="!!c5_9" descr="/tmp/deck/a/led-step2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80960" y="7498080"/>
            <a:ext cx="356616" cy="530352"/>
          </a:xfrm>
          <a:prstGeom prst="rect">
            <a:avLst/>
          </a:prstGeom>
        </p:spPr>
      </p:pic>
      <p:sp>
        <p:nvSpPr>
          <p:cNvPr id="29" name="!!c5_10"/>
          <p:cNvSpPr txBox="1"/>
          <p:nvPr/>
        </p:nvSpPr>
        <p:spPr>
          <a:xfrm>
            <a:off x="8138160" y="749808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Betal i Vipps</a:t>
            </a:r>
            <a:endParaRPr lang="en-US" sz="1500" dirty="0"/>
          </a:p>
        </p:txBody>
      </p:sp>
      <p:pic>
        <p:nvPicPr>
          <p:cNvPr id="30" name="!!c5_11" descr="/tmp/deck/a/led-step3.png">    </p:cNvPr>
          <p:cNvPicPr>
            <a:picLocks noChangeAspect="1"/>
          </p:cNvPicPr>
          <p:nvPr/>
        </p:nvPicPr>
        <p:blipFill>
          <a:blip r:embed="rId13">
            <a:alphaModFix amt="45000"/>
          </a:blip>
          <a:stretch>
            <a:fillRect/>
          </a:stretch>
        </p:blipFill>
        <p:spPr>
          <a:xfrm>
            <a:off x="9646920" y="7406640"/>
            <a:ext cx="356616" cy="530352"/>
          </a:xfrm>
          <a:prstGeom prst="rect">
            <a:avLst/>
          </a:prstGeom>
        </p:spPr>
      </p:pic>
      <p:sp>
        <p:nvSpPr>
          <p:cNvPr id="31" name="!!c5_12"/>
          <p:cNvSpPr txBox="1"/>
          <p:nvPr/>
        </p:nvSpPr>
        <p:spPr>
          <a:xfrm>
            <a:off x="10104120" y="74066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Registrer kjøpet</a:t>
            </a:r>
            <a:endParaRPr lang="en-US" sz="1500" dirty="0"/>
          </a:p>
        </p:txBody>
      </p:sp>
      <p:sp>
        <p:nvSpPr>
          <p:cNvPr id="32" name="!!c7_0"/>
          <p:cNvSpPr/>
          <p:nvPr/>
        </p:nvSpPr>
        <p:spPr>
          <a:xfrm>
            <a:off x="2377440" y="-6583680"/>
            <a:ext cx="2898648" cy="6035040"/>
          </a:xfrm>
          <a:prstGeom prst="roundRect">
            <a:avLst>
              <a:gd name="adj" fmla="val 13249"/>
            </a:avLst>
          </a:prstGeom>
          <a:solidFill>
            <a:srgbClr val="0B0B0C"/>
          </a:solidFill>
          <a:ln w="15875">
            <a:solidFill>
              <a:srgbClr val="34343A"/>
            </a:solidFill>
            <a:prstDash val="solid"/>
          </a:ln>
          <a:effectLst>
            <a:outerShdw sx="100000" sy="100000" kx="0" ky="0" algn="bl" rotWithShape="0" blurRad="381000" dist="50800" dir="5400000">
              <a:srgbClr val="FF3C33">
                <a:alpha val="18000"/>
              </a:srgbClr>
            </a:outerShdw>
          </a:effectLst>
        </p:spPr>
      </p:sp>
      <p:pic>
        <p:nvPicPr>
          <p:cNvPr id="33" name="!!c7_1" descr="/tmp/deck/a/07-checkout-registered-phon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78024" y="-6483096"/>
            <a:ext cx="2697480" cy="5833872"/>
          </a:xfrm>
          <a:prstGeom prst="rect">
            <a:avLst/>
          </a:prstGeom>
        </p:spPr>
      </p:pic>
      <p:sp>
        <p:nvSpPr>
          <p:cNvPr id="34" name="!!c7_2"/>
          <p:cNvSpPr txBox="1"/>
          <p:nvPr/>
        </p:nvSpPr>
        <p:spPr>
          <a:xfrm>
            <a:off x="5577840" y="-2133600"/>
            <a:ext cx="603504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Registrer kjøpet</a:t>
            </a:r>
            <a:endParaRPr lang="en-US" sz="4800" dirty="0"/>
          </a:p>
        </p:txBody>
      </p:sp>
      <p:sp>
        <p:nvSpPr>
          <p:cNvPr id="35" name="!!c7_3"/>
          <p:cNvSpPr txBox="1"/>
          <p:nvPr/>
        </p:nvSpPr>
        <p:spPr>
          <a:xfrm>
            <a:off x="5577840" y="-192024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Trykk «Jeg har betalt». Delene trekkes fra lageret med en gang, så frivillige ser når de må bestille mer.</a:t>
            </a:r>
            <a:endParaRPr lang="en-US" sz="2000" dirty="0"/>
          </a:p>
        </p:txBody>
      </p:sp>
      <p:sp>
        <p:nvSpPr>
          <p:cNvPr id="36" name="!!c7_4"/>
          <p:cNvSpPr txBox="1"/>
          <p:nvPr/>
        </p:nvSpPr>
        <p:spPr>
          <a:xfrm>
            <a:off x="5577840" y="7406640"/>
            <a:ext cx="2112264" cy="384048"/>
          </a:xfrm>
          <a:prstGeom prst="roundRect">
            <a:avLst>
              <a:gd name="adj" fmla="val 50000"/>
            </a:avLst>
          </a:prstGeom>
          <a:solidFill>
            <a:srgbClr val="0F0F11"/>
          </a:solidFill>
          <a:ln w="12700">
            <a:solidFill>
              <a:srgbClr val="2A2A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Lageret oppdateres</a:t>
            </a:r>
            <a:endParaRPr lang="en-US" sz="1300" dirty="0"/>
          </a:p>
        </p:txBody>
      </p:sp>
      <p:sp>
        <p:nvSpPr>
          <p:cNvPr id="37" name="!!c7_5"/>
          <p:cNvSpPr txBox="1"/>
          <p:nvPr/>
        </p:nvSpPr>
        <p:spPr>
          <a:xfrm>
            <a:off x="7818120" y="7406640"/>
            <a:ext cx="2304288" cy="384048"/>
          </a:xfrm>
          <a:prstGeom prst="roundRect">
            <a:avLst>
              <a:gd name="adj" fmla="val 50000"/>
            </a:avLst>
          </a:prstGeom>
          <a:solidFill>
            <a:srgbClr val="0F0F11"/>
          </a:solidFill>
          <a:ln w="12700">
            <a:solidFill>
              <a:srgbClr val="2A2A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Kvittering på e-post</a:t>
            </a:r>
            <a:endParaRPr lang="en-US" sz="1300" dirty="0"/>
          </a:p>
        </p:txBody>
      </p:sp>
      <p:sp>
        <p:nvSpPr>
          <p:cNvPr id="38" name="!!c7_6"/>
          <p:cNvSpPr/>
          <p:nvPr/>
        </p:nvSpPr>
        <p:spPr>
          <a:xfrm>
            <a:off x="9537192" y="7406640"/>
            <a:ext cx="1856232" cy="713232"/>
          </a:xfrm>
          <a:prstGeom prst="roundRect">
            <a:avLst>
              <a:gd name="adj" fmla="val 15385"/>
            </a:avLst>
          </a:prstGeom>
          <a:solidFill>
            <a:srgbClr val="FF3C33">
              <a:alpha val="12000"/>
            </a:srgbClr>
          </a:solidFill>
          <a:ln w="12700">
            <a:solidFill>
              <a:srgbClr val="FF3C33"/>
            </a:solidFill>
            <a:prstDash val="solid"/>
          </a:ln>
        </p:spPr>
      </p:sp>
      <p:pic>
        <p:nvPicPr>
          <p:cNvPr id="39" name="!!c7_7" descr="/tmp/deck/a/led-step1.png">    </p:cNvPr>
          <p:cNvPicPr>
            <a:picLocks noChangeAspect="1"/>
          </p:cNvPicPr>
          <p:nvPr/>
        </p:nvPicPr>
        <p:blipFill>
          <a:blip r:embed="rId15">
            <a:alphaModFix amt="45000"/>
          </a:blip>
          <a:stretch>
            <a:fillRect/>
          </a:stretch>
        </p:blipFill>
        <p:spPr>
          <a:xfrm>
            <a:off x="5715000" y="7406640"/>
            <a:ext cx="356616" cy="530352"/>
          </a:xfrm>
          <a:prstGeom prst="rect">
            <a:avLst/>
          </a:prstGeom>
        </p:spPr>
      </p:pic>
      <p:sp>
        <p:nvSpPr>
          <p:cNvPr id="40" name="!!c7_8"/>
          <p:cNvSpPr txBox="1"/>
          <p:nvPr/>
        </p:nvSpPr>
        <p:spPr>
          <a:xfrm>
            <a:off x="6172200" y="74066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 delen</a:t>
            </a:r>
            <a:endParaRPr lang="en-US" sz="1500" dirty="0"/>
          </a:p>
        </p:txBody>
      </p:sp>
      <p:pic>
        <p:nvPicPr>
          <p:cNvPr id="41" name="!!c7_9" descr="/tmp/deck/a/led-step2.png">    </p:cNvPr>
          <p:cNvPicPr>
            <a:picLocks noChangeAspect="1"/>
          </p:cNvPicPr>
          <p:nvPr/>
        </p:nvPicPr>
        <p:blipFill>
          <a:blip r:embed="rId16">
            <a:alphaModFix amt="45000"/>
          </a:blip>
          <a:stretch>
            <a:fillRect/>
          </a:stretch>
        </p:blipFill>
        <p:spPr>
          <a:xfrm>
            <a:off x="7680960" y="7406640"/>
            <a:ext cx="356616" cy="530352"/>
          </a:xfrm>
          <a:prstGeom prst="rect">
            <a:avLst/>
          </a:prstGeom>
        </p:spPr>
      </p:pic>
      <p:sp>
        <p:nvSpPr>
          <p:cNvPr id="42" name="!!c7_10"/>
          <p:cNvSpPr txBox="1"/>
          <p:nvPr/>
        </p:nvSpPr>
        <p:spPr>
          <a:xfrm>
            <a:off x="8138160" y="74066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Betal i Vipps</a:t>
            </a:r>
            <a:endParaRPr lang="en-US" sz="1500" dirty="0"/>
          </a:p>
        </p:txBody>
      </p:sp>
      <p:pic>
        <p:nvPicPr>
          <p:cNvPr id="43" name="!!c7_11" descr="/tmp/deck/a/led-step3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46920" y="7498080"/>
            <a:ext cx="356616" cy="530352"/>
          </a:xfrm>
          <a:prstGeom prst="rect">
            <a:avLst/>
          </a:prstGeom>
        </p:spPr>
      </p:pic>
      <p:sp>
        <p:nvSpPr>
          <p:cNvPr id="44" name="!!c7_12"/>
          <p:cNvSpPr txBox="1"/>
          <p:nvPr/>
        </p:nvSpPr>
        <p:spPr>
          <a:xfrm>
            <a:off x="10104120" y="749808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Registrer kjøpet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orbR" descr="/tmp/deck/a/orb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14400" y="3200400"/>
            <a:ext cx="6400800" cy="6400800"/>
          </a:xfrm>
          <a:prstGeom prst="rect">
            <a:avLst/>
          </a:prstGeom>
        </p:spPr>
      </p:pic>
      <p:pic>
        <p:nvPicPr>
          <p:cNvPr id="4" name="!!orbG" descr="/tmp/deck/a/orb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-1371600"/>
            <a:ext cx="5943600" cy="5943600"/>
          </a:xfrm>
          <a:prstGeom prst="rect">
            <a:avLst/>
          </a:prstGeom>
        </p:spPr>
      </p:pic>
      <p:pic>
        <p:nvPicPr>
          <p:cNvPr id="5" name="!!log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1600200" cy="294198"/>
          </a:xfrm>
          <a:prstGeom prst="rect">
            <a:avLst/>
          </a:prstGeom>
        </p:spPr>
      </p:pic>
      <p:sp>
        <p:nvSpPr>
          <p:cNvPr id="6" name="!!c7_0"/>
          <p:cNvSpPr/>
          <p:nvPr/>
        </p:nvSpPr>
        <p:spPr>
          <a:xfrm>
            <a:off x="2377440" y="411480"/>
            <a:ext cx="2898648" cy="6035040"/>
          </a:xfrm>
          <a:prstGeom prst="roundRect">
            <a:avLst>
              <a:gd name="adj" fmla="val 13249"/>
            </a:avLst>
          </a:prstGeom>
          <a:solidFill>
            <a:srgbClr val="0B0B0C"/>
          </a:solidFill>
          <a:ln w="15875">
            <a:solidFill>
              <a:srgbClr val="34343A"/>
            </a:solidFill>
            <a:prstDash val="solid"/>
          </a:ln>
          <a:effectLst>
            <a:outerShdw sx="100000" sy="100000" kx="0" ky="0" algn="bl" rotWithShape="0" blurRad="381000" dist="50800" dir="5400000">
              <a:srgbClr val="FF3C33">
                <a:alpha val="18000"/>
              </a:srgbClr>
            </a:outerShdw>
          </a:effectLst>
        </p:spPr>
      </p:sp>
      <p:pic>
        <p:nvPicPr>
          <p:cNvPr id="7" name="!!c7_1" descr="/tmp/deck/a/07-checkout-registered-ph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8024" y="512064"/>
            <a:ext cx="2697480" cy="5833872"/>
          </a:xfrm>
          <a:prstGeom prst="rect">
            <a:avLst/>
          </a:prstGeom>
        </p:spPr>
      </p:pic>
      <p:sp>
        <p:nvSpPr>
          <p:cNvPr id="8" name="!!c7_2"/>
          <p:cNvSpPr txBox="1"/>
          <p:nvPr/>
        </p:nvSpPr>
        <p:spPr>
          <a:xfrm>
            <a:off x="5577840" y="1143000"/>
            <a:ext cx="603504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Registrer kjøpet</a:t>
            </a:r>
            <a:endParaRPr lang="en-US" sz="4800" dirty="0"/>
          </a:p>
        </p:txBody>
      </p:sp>
      <p:sp>
        <p:nvSpPr>
          <p:cNvPr id="9" name="!!c7_3"/>
          <p:cNvSpPr txBox="1"/>
          <p:nvPr/>
        </p:nvSpPr>
        <p:spPr>
          <a:xfrm>
            <a:off x="5577840" y="214884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Trykk «Jeg har betalt». Delene trekkes fra lageret med en gang, så frivillige ser når de må bestille mer.</a:t>
            </a:r>
            <a:endParaRPr lang="en-US" sz="2000" dirty="0"/>
          </a:p>
        </p:txBody>
      </p:sp>
      <p:sp>
        <p:nvSpPr>
          <p:cNvPr id="10" name="!!c7_4"/>
          <p:cNvSpPr txBox="1"/>
          <p:nvPr/>
        </p:nvSpPr>
        <p:spPr>
          <a:xfrm>
            <a:off x="5577840" y="3703320"/>
            <a:ext cx="2112264" cy="384048"/>
          </a:xfrm>
          <a:prstGeom prst="roundRect">
            <a:avLst>
              <a:gd name="adj" fmla="val 50000"/>
            </a:avLst>
          </a:prstGeom>
          <a:solidFill>
            <a:srgbClr val="0F0F11"/>
          </a:solidFill>
          <a:ln w="12700">
            <a:solidFill>
              <a:srgbClr val="2A2A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Lageret oppdateres</a:t>
            </a:r>
            <a:endParaRPr lang="en-US" sz="1300" dirty="0"/>
          </a:p>
        </p:txBody>
      </p:sp>
      <p:sp>
        <p:nvSpPr>
          <p:cNvPr id="11" name="!!c7_5"/>
          <p:cNvSpPr txBox="1"/>
          <p:nvPr/>
        </p:nvSpPr>
        <p:spPr>
          <a:xfrm>
            <a:off x="7818120" y="3703320"/>
            <a:ext cx="2304288" cy="384048"/>
          </a:xfrm>
          <a:prstGeom prst="roundRect">
            <a:avLst>
              <a:gd name="adj" fmla="val 50000"/>
            </a:avLst>
          </a:prstGeom>
          <a:solidFill>
            <a:srgbClr val="0F0F11"/>
          </a:solidFill>
          <a:ln w="12700">
            <a:solidFill>
              <a:srgbClr val="2A2A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Kvittering på e-post</a:t>
            </a:r>
            <a:endParaRPr lang="en-US" sz="1300" dirty="0"/>
          </a:p>
        </p:txBody>
      </p:sp>
      <p:sp>
        <p:nvSpPr>
          <p:cNvPr id="12" name="!!c7_6"/>
          <p:cNvSpPr/>
          <p:nvPr/>
        </p:nvSpPr>
        <p:spPr>
          <a:xfrm>
            <a:off x="9537192" y="5440680"/>
            <a:ext cx="1856232" cy="713232"/>
          </a:xfrm>
          <a:prstGeom prst="roundRect">
            <a:avLst>
              <a:gd name="adj" fmla="val 15385"/>
            </a:avLst>
          </a:prstGeom>
          <a:solidFill>
            <a:srgbClr val="FF3C33">
              <a:alpha val="12000"/>
            </a:srgbClr>
          </a:solidFill>
          <a:ln w="12700">
            <a:solidFill>
              <a:srgbClr val="FF3C33"/>
            </a:solidFill>
            <a:prstDash val="solid"/>
          </a:ln>
        </p:spPr>
      </p:sp>
      <p:pic>
        <p:nvPicPr>
          <p:cNvPr id="13" name="!!c7_7" descr="/tmp/deck/a/led-step1.png">    </p:cNvPr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5715000" y="5532120"/>
            <a:ext cx="356616" cy="530352"/>
          </a:xfrm>
          <a:prstGeom prst="rect">
            <a:avLst/>
          </a:prstGeom>
        </p:spPr>
      </p:pic>
      <p:sp>
        <p:nvSpPr>
          <p:cNvPr id="14" name="!!c7_8"/>
          <p:cNvSpPr txBox="1"/>
          <p:nvPr/>
        </p:nvSpPr>
        <p:spPr>
          <a:xfrm>
            <a:off x="6172200" y="55321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 delen</a:t>
            </a:r>
            <a:endParaRPr lang="en-US" sz="1500" dirty="0"/>
          </a:p>
        </p:txBody>
      </p:sp>
      <p:pic>
        <p:nvPicPr>
          <p:cNvPr id="15" name="!!c7_9" descr="/tmp/deck/a/led-step2.png">    </p:cNvPr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>
            <a:off x="7680960" y="5532120"/>
            <a:ext cx="356616" cy="530352"/>
          </a:xfrm>
          <a:prstGeom prst="rect">
            <a:avLst/>
          </a:prstGeom>
        </p:spPr>
      </p:pic>
      <p:sp>
        <p:nvSpPr>
          <p:cNvPr id="16" name="!!c7_10"/>
          <p:cNvSpPr txBox="1"/>
          <p:nvPr/>
        </p:nvSpPr>
        <p:spPr>
          <a:xfrm>
            <a:off x="8138160" y="55321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Betal i Vipps</a:t>
            </a:r>
            <a:endParaRPr lang="en-US" sz="1500" dirty="0"/>
          </a:p>
        </p:txBody>
      </p:sp>
      <p:pic>
        <p:nvPicPr>
          <p:cNvPr id="17" name="!!c7_11" descr="/tmp/deck/a/led-step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6920" y="5532120"/>
            <a:ext cx="356616" cy="530352"/>
          </a:xfrm>
          <a:prstGeom prst="rect">
            <a:avLst/>
          </a:prstGeom>
        </p:spPr>
      </p:pic>
      <p:sp>
        <p:nvSpPr>
          <p:cNvPr id="18" name="!!c7_12"/>
          <p:cNvSpPr txBox="1"/>
          <p:nvPr/>
        </p:nvSpPr>
        <p:spPr>
          <a:xfrm>
            <a:off x="10104120" y="55321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Registrer kjøpet</a:t>
            </a:r>
            <a:endParaRPr lang="en-US" sz="1500" dirty="0"/>
          </a:p>
        </p:txBody>
      </p:sp>
      <p:sp>
        <p:nvSpPr>
          <p:cNvPr id="19" name="!!c6_0"/>
          <p:cNvSpPr/>
          <p:nvPr/>
        </p:nvSpPr>
        <p:spPr>
          <a:xfrm>
            <a:off x="12740335" y="411480"/>
            <a:ext cx="2898648" cy="6035040"/>
          </a:xfrm>
          <a:prstGeom prst="roundRect">
            <a:avLst>
              <a:gd name="adj" fmla="val 13249"/>
            </a:avLst>
          </a:prstGeom>
          <a:solidFill>
            <a:srgbClr val="0B0B0C"/>
          </a:solidFill>
          <a:ln w="15875">
            <a:solidFill>
              <a:srgbClr val="34343A"/>
            </a:solidFill>
            <a:prstDash val="solid"/>
          </a:ln>
          <a:effectLst>
            <a:outerShdw sx="100000" sy="100000" kx="0" ky="0" algn="bl" rotWithShape="0" blurRad="381000" dist="50800" dir="5400000">
              <a:srgbClr val="FF3C33">
                <a:alpha val="18000"/>
              </a:srgbClr>
            </a:outerShdw>
          </a:effectLst>
        </p:spPr>
      </p:sp>
      <p:pic>
        <p:nvPicPr>
          <p:cNvPr id="20" name="!!c6_1" descr="/tmp/deck/a/06-checkout-phone-vipp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40919" y="512064"/>
            <a:ext cx="2697480" cy="5833872"/>
          </a:xfrm>
          <a:prstGeom prst="rect">
            <a:avLst/>
          </a:prstGeom>
        </p:spPr>
      </p:pic>
      <p:sp>
        <p:nvSpPr>
          <p:cNvPr id="21" name="!!c6_2"/>
          <p:cNvSpPr txBox="1"/>
          <p:nvPr/>
        </p:nvSpPr>
        <p:spPr>
          <a:xfrm>
            <a:off x="548640" y="-2133600"/>
            <a:ext cx="685800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Betal i Vipps</a:t>
            </a:r>
            <a:endParaRPr lang="en-US" sz="4800" dirty="0"/>
          </a:p>
        </p:txBody>
      </p:sp>
      <p:pic>
        <p:nvPicPr>
          <p:cNvPr id="22" name="!!c6_3" descr="/tmp/deck/a/led-1450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3334783" y="2240280"/>
            <a:ext cx="2786143" cy="1051560"/>
          </a:xfrm>
          <a:prstGeom prst="rect">
            <a:avLst/>
          </a:prstGeom>
        </p:spPr>
      </p:pic>
      <p:sp>
        <p:nvSpPr>
          <p:cNvPr id="23" name="!!c6_4"/>
          <p:cNvSpPr txBox="1"/>
          <p:nvPr/>
        </p:nvSpPr>
        <p:spPr>
          <a:xfrm>
            <a:off x="-3108960" y="2788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til Vipps 47322</a:t>
            </a:r>
            <a:endParaRPr lang="en-US" sz="1800" dirty="0"/>
          </a:p>
        </p:txBody>
      </p:sp>
      <p:sp>
        <p:nvSpPr>
          <p:cNvPr id="24" name="!!c6_5"/>
          <p:cNvSpPr txBox="1"/>
          <p:nvPr/>
        </p:nvSpPr>
        <p:spPr>
          <a:xfrm>
            <a:off x="548640" y="74066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Kjøperen betaler i sin egen Vipps-app. Mister hen nettet etterpå, fortsetter hen samme kjøp og betaler aldri to ganger.</a:t>
            </a:r>
            <a:endParaRPr lang="en-US" sz="2000" dirty="0"/>
          </a:p>
        </p:txBody>
      </p:sp>
      <p:sp>
        <p:nvSpPr>
          <p:cNvPr id="25" name="!!c6_6"/>
          <p:cNvSpPr/>
          <p:nvPr/>
        </p:nvSpPr>
        <p:spPr>
          <a:xfrm>
            <a:off x="2542032" y="7406640"/>
            <a:ext cx="1856232" cy="713232"/>
          </a:xfrm>
          <a:prstGeom prst="roundRect">
            <a:avLst>
              <a:gd name="adj" fmla="val 15385"/>
            </a:avLst>
          </a:prstGeom>
          <a:solidFill>
            <a:srgbClr val="FF3C33">
              <a:alpha val="12000"/>
            </a:srgbClr>
          </a:solidFill>
          <a:ln w="12700">
            <a:solidFill>
              <a:srgbClr val="FF3C33"/>
            </a:solidFill>
            <a:prstDash val="solid"/>
          </a:ln>
        </p:spPr>
      </p:sp>
      <p:pic>
        <p:nvPicPr>
          <p:cNvPr id="26" name="!!c6_7" descr="/tmp/deck/a/led-step1.png">    </p:cNvPr>
          <p:cNvPicPr>
            <a:picLocks noChangeAspect="1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>
            <a:off x="-905256" y="5532120"/>
            <a:ext cx="356616" cy="530352"/>
          </a:xfrm>
          <a:prstGeom prst="rect">
            <a:avLst/>
          </a:prstGeom>
        </p:spPr>
      </p:pic>
      <p:sp>
        <p:nvSpPr>
          <p:cNvPr id="27" name="!!c6_8"/>
          <p:cNvSpPr txBox="1"/>
          <p:nvPr/>
        </p:nvSpPr>
        <p:spPr>
          <a:xfrm>
            <a:off x="1143000" y="74066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 delen</a:t>
            </a:r>
            <a:endParaRPr lang="en-US" sz="1500" dirty="0"/>
          </a:p>
        </p:txBody>
      </p:sp>
      <p:pic>
        <p:nvPicPr>
          <p:cNvPr id="28" name="!!c6_9" descr="/tmp/deck/a/led-step2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51760" y="7498080"/>
            <a:ext cx="356616" cy="530352"/>
          </a:xfrm>
          <a:prstGeom prst="rect">
            <a:avLst/>
          </a:prstGeom>
        </p:spPr>
      </p:pic>
      <p:sp>
        <p:nvSpPr>
          <p:cNvPr id="29" name="!!c6_10"/>
          <p:cNvSpPr txBox="1"/>
          <p:nvPr/>
        </p:nvSpPr>
        <p:spPr>
          <a:xfrm>
            <a:off x="3108960" y="749808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Betal i Vipps</a:t>
            </a:r>
            <a:endParaRPr lang="en-US" sz="1500" dirty="0"/>
          </a:p>
        </p:txBody>
      </p:sp>
      <p:pic>
        <p:nvPicPr>
          <p:cNvPr id="30" name="!!c6_11" descr="/tmp/deck/a/led-step3.png">    </p:cNvPr>
          <p:cNvPicPr>
            <a:picLocks noChangeAspect="1"/>
          </p:cNvPicPr>
          <p:nvPr/>
        </p:nvPicPr>
        <p:blipFill>
          <a:blip r:embed="rId12">
            <a:alphaModFix amt="45000"/>
          </a:blip>
          <a:stretch>
            <a:fillRect/>
          </a:stretch>
        </p:blipFill>
        <p:spPr>
          <a:xfrm>
            <a:off x="4617720" y="7406640"/>
            <a:ext cx="356616" cy="530352"/>
          </a:xfrm>
          <a:prstGeom prst="rect">
            <a:avLst/>
          </a:prstGeom>
        </p:spPr>
      </p:pic>
      <p:sp>
        <p:nvSpPr>
          <p:cNvPr id="31" name="!!c6_12"/>
          <p:cNvSpPr txBox="1"/>
          <p:nvPr/>
        </p:nvSpPr>
        <p:spPr>
          <a:xfrm>
            <a:off x="5074920" y="74066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Registrer kjøpet</a:t>
            </a:r>
            <a:endParaRPr lang="en-US" sz="1500" dirty="0"/>
          </a:p>
        </p:txBody>
      </p:sp>
      <p:sp>
        <p:nvSpPr>
          <p:cNvPr id="32" name="!!c8_0"/>
          <p:cNvSpPr txBox="1"/>
          <p:nvPr/>
        </p:nvSpPr>
        <p:spPr>
          <a:xfrm>
            <a:off x="548640" y="-1869440"/>
            <a:ext cx="109728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Bygget på tillit, og ærlig om det</a:t>
            </a:r>
            <a:endParaRPr lang="en-US" sz="4000" dirty="0"/>
          </a:p>
        </p:txBody>
      </p:sp>
      <p:sp>
        <p:nvSpPr>
          <p:cNvPr id="33" name="!!c8_1"/>
          <p:cNvSpPr/>
          <p:nvPr/>
        </p:nvSpPr>
        <p:spPr>
          <a:xfrm>
            <a:off x="-3200400" y="2331720"/>
            <a:ext cx="2651760" cy="3108960"/>
          </a:xfrm>
          <a:prstGeom prst="roundRect">
            <a:avLst>
              <a:gd name="adj" fmla="val 4828"/>
            </a:avLst>
          </a:prstGeom>
          <a:solidFill>
            <a:srgbClr val="0F0F11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34" name="!!c8_2"/>
          <p:cNvSpPr/>
          <p:nvPr/>
        </p:nvSpPr>
        <p:spPr>
          <a:xfrm>
            <a:off x="-2880360" y="2697480"/>
            <a:ext cx="731520" cy="731520"/>
          </a:xfrm>
          <a:prstGeom prst="ellipse">
            <a:avLst/>
          </a:prstGeom>
          <a:solidFill>
            <a:srgbClr val="FF3C33">
              <a:alpha val="15000"/>
            </a:srgbClr>
          </a:solidFill>
          <a:ln w="12700">
            <a:solidFill>
              <a:srgbClr val="FF3C33"/>
            </a:solidFill>
            <a:prstDash val="solid"/>
          </a:ln>
        </p:spPr>
      </p:sp>
      <p:pic>
        <p:nvPicPr>
          <p:cNvPr id="35" name="!!c8_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06624" y="2871216"/>
            <a:ext cx="384048" cy="384048"/>
          </a:xfrm>
          <a:prstGeom prst="rect">
            <a:avLst/>
          </a:prstGeom>
        </p:spPr>
      </p:pic>
      <p:sp>
        <p:nvSpPr>
          <p:cNvPr id="36" name="!!c8_4"/>
          <p:cNvSpPr txBox="1"/>
          <p:nvPr/>
        </p:nvSpPr>
        <p:spPr>
          <a:xfrm>
            <a:off x="-2880360" y="3657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Aldri «bekreftet»</a:t>
            </a:r>
            <a:endParaRPr lang="en-US" sz="1900" dirty="0"/>
          </a:p>
        </p:txBody>
      </p:sp>
      <p:sp>
        <p:nvSpPr>
          <p:cNvPr id="37" name="!!c8_5"/>
          <p:cNvSpPr txBox="1"/>
          <p:nvPr/>
        </p:nvSpPr>
        <p:spPr>
          <a:xfrm>
            <a:off x="-2880360" y="43434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Siden sier aldri at betalingen er sjekket. Ingen Vipps-bedriftsavtale trengs.</a:t>
            </a:r>
            <a:endParaRPr lang="en-US" sz="1400" dirty="0"/>
          </a:p>
        </p:txBody>
      </p:sp>
      <p:sp>
        <p:nvSpPr>
          <p:cNvPr id="38" name="!!c8_6"/>
          <p:cNvSpPr/>
          <p:nvPr/>
        </p:nvSpPr>
        <p:spPr>
          <a:xfrm>
            <a:off x="3383280" y="7406640"/>
            <a:ext cx="2651760" cy="3108960"/>
          </a:xfrm>
          <a:prstGeom prst="roundRect">
            <a:avLst>
              <a:gd name="adj" fmla="val 4828"/>
            </a:avLst>
          </a:prstGeom>
          <a:solidFill>
            <a:srgbClr val="0F0F11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39" name="!!c8_7"/>
          <p:cNvSpPr/>
          <p:nvPr/>
        </p:nvSpPr>
        <p:spPr>
          <a:xfrm>
            <a:off x="3703320" y="7772400"/>
            <a:ext cx="731520" cy="731520"/>
          </a:xfrm>
          <a:prstGeom prst="ellipse">
            <a:avLst/>
          </a:prstGeom>
          <a:solidFill>
            <a:srgbClr val="FF3C33">
              <a:alpha val="15000"/>
            </a:srgbClr>
          </a:solidFill>
          <a:ln w="12700">
            <a:solidFill>
              <a:srgbClr val="FF3C33"/>
            </a:solidFill>
            <a:prstDash val="solid"/>
          </a:ln>
        </p:spPr>
      </p:sp>
      <p:pic>
        <p:nvPicPr>
          <p:cNvPr id="40" name="!!c8_8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77056" y="7946136"/>
            <a:ext cx="384048" cy="384048"/>
          </a:xfrm>
          <a:prstGeom prst="rect">
            <a:avLst/>
          </a:prstGeom>
        </p:spPr>
      </p:pic>
      <p:sp>
        <p:nvSpPr>
          <p:cNvPr id="41" name="!!c8_9"/>
          <p:cNvSpPr txBox="1"/>
          <p:nvPr/>
        </p:nvSpPr>
        <p:spPr>
          <a:xfrm>
            <a:off x="3703320" y="8732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Aldri betal to ganger</a:t>
            </a:r>
            <a:endParaRPr lang="en-US" sz="1900" dirty="0"/>
          </a:p>
        </p:txBody>
      </p:sp>
      <p:sp>
        <p:nvSpPr>
          <p:cNvPr id="42" name="!!c8_10"/>
          <p:cNvSpPr txBox="1"/>
          <p:nvPr/>
        </p:nvSpPr>
        <p:spPr>
          <a:xfrm>
            <a:off x="3703320" y="9418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Mister du nettet etter betaling, fortsetter du samme kjøp.</a:t>
            </a:r>
            <a:endParaRPr lang="en-US" sz="1400" dirty="0"/>
          </a:p>
        </p:txBody>
      </p:sp>
      <p:sp>
        <p:nvSpPr>
          <p:cNvPr id="43" name="!!c8_11"/>
          <p:cNvSpPr/>
          <p:nvPr/>
        </p:nvSpPr>
        <p:spPr>
          <a:xfrm>
            <a:off x="6217920" y="7406640"/>
            <a:ext cx="2651760" cy="3108960"/>
          </a:xfrm>
          <a:prstGeom prst="roundRect">
            <a:avLst>
              <a:gd name="adj" fmla="val 4828"/>
            </a:avLst>
          </a:prstGeom>
          <a:solidFill>
            <a:srgbClr val="0F0F11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44" name="!!c8_12"/>
          <p:cNvSpPr/>
          <p:nvPr/>
        </p:nvSpPr>
        <p:spPr>
          <a:xfrm>
            <a:off x="6537960" y="7772400"/>
            <a:ext cx="731520" cy="731520"/>
          </a:xfrm>
          <a:prstGeom prst="ellipse">
            <a:avLst/>
          </a:prstGeom>
          <a:solidFill>
            <a:srgbClr val="FF3C33">
              <a:alpha val="15000"/>
            </a:srgbClr>
          </a:solidFill>
          <a:ln w="12700">
            <a:solidFill>
              <a:srgbClr val="FF3C33"/>
            </a:solidFill>
            <a:prstDash val="solid"/>
          </a:ln>
        </p:spPr>
      </p:sp>
      <p:pic>
        <p:nvPicPr>
          <p:cNvPr id="45" name="!!c8_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11696" y="7946136"/>
            <a:ext cx="384048" cy="384048"/>
          </a:xfrm>
          <a:prstGeom prst="rect">
            <a:avLst/>
          </a:prstGeom>
        </p:spPr>
      </p:pic>
      <p:sp>
        <p:nvSpPr>
          <p:cNvPr id="46" name="!!c8_14"/>
          <p:cNvSpPr txBox="1"/>
          <p:nvPr/>
        </p:nvSpPr>
        <p:spPr>
          <a:xfrm>
            <a:off x="6537960" y="8732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Prisen fryses</a:t>
            </a:r>
            <a:endParaRPr lang="en-US" sz="1900" dirty="0"/>
          </a:p>
        </p:txBody>
      </p:sp>
      <p:sp>
        <p:nvSpPr>
          <p:cNvPr id="47" name="!!c8_15"/>
          <p:cNvSpPr txBox="1"/>
          <p:nvPr/>
        </p:nvSpPr>
        <p:spPr>
          <a:xfrm>
            <a:off x="6537960" y="9418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Beløpet i kassen endrer seg ikke mens du betaler.</a:t>
            </a:r>
            <a:endParaRPr lang="en-US" sz="1400" dirty="0"/>
          </a:p>
        </p:txBody>
      </p:sp>
      <p:sp>
        <p:nvSpPr>
          <p:cNvPr id="48" name="!!c8_16"/>
          <p:cNvSpPr/>
          <p:nvPr/>
        </p:nvSpPr>
        <p:spPr>
          <a:xfrm>
            <a:off x="12740335" y="2331720"/>
            <a:ext cx="2651760" cy="3108960"/>
          </a:xfrm>
          <a:prstGeom prst="roundRect">
            <a:avLst>
              <a:gd name="adj" fmla="val 4828"/>
            </a:avLst>
          </a:prstGeom>
          <a:solidFill>
            <a:srgbClr val="0F0F11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49" name="!!c8_17"/>
          <p:cNvSpPr/>
          <p:nvPr/>
        </p:nvSpPr>
        <p:spPr>
          <a:xfrm>
            <a:off x="13060375" y="2697480"/>
            <a:ext cx="731520" cy="731520"/>
          </a:xfrm>
          <a:prstGeom prst="ellipse">
            <a:avLst/>
          </a:prstGeom>
          <a:solidFill>
            <a:srgbClr val="FF3C33">
              <a:alpha val="15000"/>
            </a:srgbClr>
          </a:solidFill>
          <a:ln w="12700">
            <a:solidFill>
              <a:srgbClr val="FF3C33"/>
            </a:solidFill>
            <a:prstDash val="solid"/>
          </a:ln>
        </p:spPr>
      </p:sp>
      <p:pic>
        <p:nvPicPr>
          <p:cNvPr id="50" name="!!c8_18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234111" y="2871216"/>
            <a:ext cx="384048" cy="384048"/>
          </a:xfrm>
          <a:prstGeom prst="rect">
            <a:avLst/>
          </a:prstGeom>
        </p:spPr>
      </p:pic>
      <p:sp>
        <p:nvSpPr>
          <p:cNvPr id="51" name="!!c8_19"/>
          <p:cNvSpPr txBox="1"/>
          <p:nvPr/>
        </p:nvSpPr>
        <p:spPr>
          <a:xfrm>
            <a:off x="13060375" y="3657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Skanning kjøper ingenting</a:t>
            </a:r>
            <a:endParaRPr lang="en-US" sz="1900" dirty="0"/>
          </a:p>
        </p:txBody>
      </p:sp>
      <p:sp>
        <p:nvSpPr>
          <p:cNvPr id="52" name="!!c8_20"/>
          <p:cNvSpPr txBox="1"/>
          <p:nvPr/>
        </p:nvSpPr>
        <p:spPr>
          <a:xfrm>
            <a:off x="13060375" y="43434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QR-kode åpner bare produktsiden.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orbR" descr="/tmp/deck/a/orb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463040" y="2926080"/>
            <a:ext cx="6400800" cy="6400800"/>
          </a:xfrm>
          <a:prstGeom prst="rect">
            <a:avLst/>
          </a:prstGeom>
        </p:spPr>
      </p:pic>
      <p:pic>
        <p:nvPicPr>
          <p:cNvPr id="4" name="!!orbG" descr="/tmp/deck/a/orb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3474720"/>
            <a:ext cx="5486400" cy="5486400"/>
          </a:xfrm>
          <a:prstGeom prst="rect">
            <a:avLst/>
          </a:prstGeom>
        </p:spPr>
      </p:pic>
      <p:pic>
        <p:nvPicPr>
          <p:cNvPr id="5" name="!!log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1600200" cy="294198"/>
          </a:xfrm>
          <a:prstGeom prst="rect">
            <a:avLst/>
          </a:prstGeom>
        </p:spPr>
      </p:pic>
      <p:sp>
        <p:nvSpPr>
          <p:cNvPr id="6" name="!!c8_0"/>
          <p:cNvSpPr txBox="1"/>
          <p:nvPr/>
        </p:nvSpPr>
        <p:spPr>
          <a:xfrm>
            <a:off x="548640" y="1143000"/>
            <a:ext cx="109728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Bygget på tillit, og ærlig om det</a:t>
            </a:r>
            <a:endParaRPr lang="en-US" sz="4000" dirty="0"/>
          </a:p>
        </p:txBody>
      </p:sp>
      <p:sp>
        <p:nvSpPr>
          <p:cNvPr id="7" name="!!c8_1"/>
          <p:cNvSpPr/>
          <p:nvPr/>
        </p:nvSpPr>
        <p:spPr>
          <a:xfrm>
            <a:off x="548640" y="2331720"/>
            <a:ext cx="2651760" cy="3108960"/>
          </a:xfrm>
          <a:prstGeom prst="roundRect">
            <a:avLst>
              <a:gd name="adj" fmla="val 4828"/>
            </a:avLst>
          </a:prstGeom>
          <a:solidFill>
            <a:srgbClr val="0F0F11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8" name="!!c8_2"/>
          <p:cNvSpPr/>
          <p:nvPr/>
        </p:nvSpPr>
        <p:spPr>
          <a:xfrm>
            <a:off x="868680" y="2697480"/>
            <a:ext cx="731520" cy="731520"/>
          </a:xfrm>
          <a:prstGeom prst="ellipse">
            <a:avLst/>
          </a:prstGeom>
          <a:solidFill>
            <a:srgbClr val="FF3C33">
              <a:alpha val="15000"/>
            </a:srgbClr>
          </a:solidFill>
          <a:ln w="12700">
            <a:solidFill>
              <a:srgbClr val="FF3C33"/>
            </a:solidFill>
            <a:prstDash val="solid"/>
          </a:ln>
        </p:spPr>
      </p:sp>
      <p:pic>
        <p:nvPicPr>
          <p:cNvPr id="9" name="!!c8_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2871216"/>
            <a:ext cx="384048" cy="384048"/>
          </a:xfrm>
          <a:prstGeom prst="rect">
            <a:avLst/>
          </a:prstGeom>
        </p:spPr>
      </p:pic>
      <p:sp>
        <p:nvSpPr>
          <p:cNvPr id="10" name="!!c8_4"/>
          <p:cNvSpPr txBox="1"/>
          <p:nvPr/>
        </p:nvSpPr>
        <p:spPr>
          <a:xfrm>
            <a:off x="868680" y="3657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Aldri «bekreftet»</a:t>
            </a:r>
            <a:endParaRPr lang="en-US" sz="1900" dirty="0"/>
          </a:p>
        </p:txBody>
      </p:sp>
      <p:sp>
        <p:nvSpPr>
          <p:cNvPr id="11" name="!!c8_5"/>
          <p:cNvSpPr txBox="1"/>
          <p:nvPr/>
        </p:nvSpPr>
        <p:spPr>
          <a:xfrm>
            <a:off x="868680" y="43434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Siden sier aldri at betalingen er sjekket. Ingen Vipps-bedriftsavtale trengs.</a:t>
            </a:r>
            <a:endParaRPr lang="en-US" sz="1400" dirty="0"/>
          </a:p>
        </p:txBody>
      </p:sp>
      <p:sp>
        <p:nvSpPr>
          <p:cNvPr id="12" name="!!c8_6"/>
          <p:cNvSpPr/>
          <p:nvPr/>
        </p:nvSpPr>
        <p:spPr>
          <a:xfrm>
            <a:off x="3383280" y="2331720"/>
            <a:ext cx="2651760" cy="3108960"/>
          </a:xfrm>
          <a:prstGeom prst="roundRect">
            <a:avLst>
              <a:gd name="adj" fmla="val 4828"/>
            </a:avLst>
          </a:prstGeom>
          <a:solidFill>
            <a:srgbClr val="0F0F11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13" name="!!c8_7"/>
          <p:cNvSpPr/>
          <p:nvPr/>
        </p:nvSpPr>
        <p:spPr>
          <a:xfrm>
            <a:off x="3703320" y="2697480"/>
            <a:ext cx="731520" cy="731520"/>
          </a:xfrm>
          <a:prstGeom prst="ellipse">
            <a:avLst/>
          </a:prstGeom>
          <a:solidFill>
            <a:srgbClr val="FF3C33">
              <a:alpha val="15000"/>
            </a:srgbClr>
          </a:solidFill>
          <a:ln w="12700">
            <a:solidFill>
              <a:srgbClr val="FF3C33"/>
            </a:solidFill>
            <a:prstDash val="solid"/>
          </a:ln>
        </p:spPr>
      </p:sp>
      <p:pic>
        <p:nvPicPr>
          <p:cNvPr id="14" name="!!c8_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7056" y="2871216"/>
            <a:ext cx="384048" cy="384048"/>
          </a:xfrm>
          <a:prstGeom prst="rect">
            <a:avLst/>
          </a:prstGeom>
        </p:spPr>
      </p:pic>
      <p:sp>
        <p:nvSpPr>
          <p:cNvPr id="15" name="!!c8_9"/>
          <p:cNvSpPr txBox="1"/>
          <p:nvPr/>
        </p:nvSpPr>
        <p:spPr>
          <a:xfrm>
            <a:off x="3703320" y="3657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Aldri betal to ganger</a:t>
            </a:r>
            <a:endParaRPr lang="en-US" sz="1900" dirty="0"/>
          </a:p>
        </p:txBody>
      </p:sp>
      <p:sp>
        <p:nvSpPr>
          <p:cNvPr id="16" name="!!c8_10"/>
          <p:cNvSpPr txBox="1"/>
          <p:nvPr/>
        </p:nvSpPr>
        <p:spPr>
          <a:xfrm>
            <a:off x="3703320" y="43434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Mister du nettet etter betaling, fortsetter du samme kjøp.</a:t>
            </a:r>
            <a:endParaRPr lang="en-US" sz="1400" dirty="0"/>
          </a:p>
        </p:txBody>
      </p:sp>
      <p:sp>
        <p:nvSpPr>
          <p:cNvPr id="17" name="!!c8_11"/>
          <p:cNvSpPr/>
          <p:nvPr/>
        </p:nvSpPr>
        <p:spPr>
          <a:xfrm>
            <a:off x="6217920" y="2331720"/>
            <a:ext cx="2651760" cy="3108960"/>
          </a:xfrm>
          <a:prstGeom prst="roundRect">
            <a:avLst>
              <a:gd name="adj" fmla="val 4828"/>
            </a:avLst>
          </a:prstGeom>
          <a:solidFill>
            <a:srgbClr val="0F0F11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18" name="!!c8_12"/>
          <p:cNvSpPr/>
          <p:nvPr/>
        </p:nvSpPr>
        <p:spPr>
          <a:xfrm>
            <a:off x="6537960" y="2697480"/>
            <a:ext cx="731520" cy="731520"/>
          </a:xfrm>
          <a:prstGeom prst="ellipse">
            <a:avLst/>
          </a:prstGeom>
          <a:solidFill>
            <a:srgbClr val="FF3C33">
              <a:alpha val="15000"/>
            </a:srgbClr>
          </a:solidFill>
          <a:ln w="12700">
            <a:solidFill>
              <a:srgbClr val="FF3C33"/>
            </a:solidFill>
            <a:prstDash val="solid"/>
          </a:ln>
        </p:spPr>
      </p:sp>
      <p:pic>
        <p:nvPicPr>
          <p:cNvPr id="19" name="!!c8_1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1696" y="2871216"/>
            <a:ext cx="384048" cy="384048"/>
          </a:xfrm>
          <a:prstGeom prst="rect">
            <a:avLst/>
          </a:prstGeom>
        </p:spPr>
      </p:pic>
      <p:sp>
        <p:nvSpPr>
          <p:cNvPr id="20" name="!!c8_14"/>
          <p:cNvSpPr txBox="1"/>
          <p:nvPr/>
        </p:nvSpPr>
        <p:spPr>
          <a:xfrm>
            <a:off x="6537960" y="3657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Prisen fryses</a:t>
            </a:r>
            <a:endParaRPr lang="en-US" sz="1900" dirty="0"/>
          </a:p>
        </p:txBody>
      </p:sp>
      <p:sp>
        <p:nvSpPr>
          <p:cNvPr id="21" name="!!c8_15"/>
          <p:cNvSpPr txBox="1"/>
          <p:nvPr/>
        </p:nvSpPr>
        <p:spPr>
          <a:xfrm>
            <a:off x="6537960" y="43434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Beløpet i kassen endrer seg ikke mens du betaler.</a:t>
            </a:r>
            <a:endParaRPr lang="en-US" sz="1400" dirty="0"/>
          </a:p>
        </p:txBody>
      </p:sp>
      <p:sp>
        <p:nvSpPr>
          <p:cNvPr id="22" name="!!c8_16"/>
          <p:cNvSpPr/>
          <p:nvPr/>
        </p:nvSpPr>
        <p:spPr>
          <a:xfrm>
            <a:off x="9052560" y="2331720"/>
            <a:ext cx="2651760" cy="3108960"/>
          </a:xfrm>
          <a:prstGeom prst="roundRect">
            <a:avLst>
              <a:gd name="adj" fmla="val 4828"/>
            </a:avLst>
          </a:prstGeom>
          <a:solidFill>
            <a:srgbClr val="0F0F11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23" name="!!c8_17"/>
          <p:cNvSpPr/>
          <p:nvPr/>
        </p:nvSpPr>
        <p:spPr>
          <a:xfrm>
            <a:off x="9372600" y="2697480"/>
            <a:ext cx="731520" cy="731520"/>
          </a:xfrm>
          <a:prstGeom prst="ellipse">
            <a:avLst/>
          </a:prstGeom>
          <a:solidFill>
            <a:srgbClr val="FF3C33">
              <a:alpha val="15000"/>
            </a:srgbClr>
          </a:solidFill>
          <a:ln w="12700">
            <a:solidFill>
              <a:srgbClr val="FF3C33"/>
            </a:solidFill>
            <a:prstDash val="solid"/>
          </a:ln>
        </p:spPr>
      </p:sp>
      <p:pic>
        <p:nvPicPr>
          <p:cNvPr id="24" name="!!c8_18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6336" y="2871216"/>
            <a:ext cx="384048" cy="384048"/>
          </a:xfrm>
          <a:prstGeom prst="rect">
            <a:avLst/>
          </a:prstGeom>
        </p:spPr>
      </p:pic>
      <p:sp>
        <p:nvSpPr>
          <p:cNvPr id="25" name="!!c8_19"/>
          <p:cNvSpPr txBox="1"/>
          <p:nvPr/>
        </p:nvSpPr>
        <p:spPr>
          <a:xfrm>
            <a:off x="9372600" y="3657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Skanning kjøper ingenting</a:t>
            </a:r>
            <a:endParaRPr lang="en-US" sz="1900" dirty="0"/>
          </a:p>
        </p:txBody>
      </p:sp>
      <p:sp>
        <p:nvSpPr>
          <p:cNvPr id="26" name="!!c8_20"/>
          <p:cNvSpPr txBox="1"/>
          <p:nvPr/>
        </p:nvSpPr>
        <p:spPr>
          <a:xfrm>
            <a:off x="9372600" y="43434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QR-kode åpner bare produktsiden.</a:t>
            </a:r>
            <a:endParaRPr lang="en-US" sz="1400" dirty="0"/>
          </a:p>
        </p:txBody>
      </p:sp>
      <p:sp>
        <p:nvSpPr>
          <p:cNvPr id="27" name="!!c7_0"/>
          <p:cNvSpPr/>
          <p:nvPr/>
        </p:nvSpPr>
        <p:spPr>
          <a:xfrm>
            <a:off x="2377440" y="-6583680"/>
            <a:ext cx="2898648" cy="6035040"/>
          </a:xfrm>
          <a:prstGeom prst="roundRect">
            <a:avLst>
              <a:gd name="adj" fmla="val 13249"/>
            </a:avLst>
          </a:prstGeom>
          <a:solidFill>
            <a:srgbClr val="0B0B0C"/>
          </a:solidFill>
          <a:ln w="15875">
            <a:solidFill>
              <a:srgbClr val="34343A"/>
            </a:solidFill>
            <a:prstDash val="solid"/>
          </a:ln>
          <a:effectLst>
            <a:outerShdw sx="100000" sy="100000" kx="0" ky="0" algn="bl" rotWithShape="0" blurRad="381000" dist="50800" dir="5400000">
              <a:srgbClr val="FF3C33">
                <a:alpha val="18000"/>
              </a:srgbClr>
            </a:outerShdw>
          </a:effectLst>
        </p:spPr>
      </p:sp>
      <p:pic>
        <p:nvPicPr>
          <p:cNvPr id="28" name="!!c7_1" descr="/tmp/deck/a/07-checkout-registered-phon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8024" y="-6483096"/>
            <a:ext cx="2697480" cy="5833872"/>
          </a:xfrm>
          <a:prstGeom prst="rect">
            <a:avLst/>
          </a:prstGeom>
        </p:spPr>
      </p:pic>
      <p:sp>
        <p:nvSpPr>
          <p:cNvPr id="29" name="!!c7_2"/>
          <p:cNvSpPr txBox="1"/>
          <p:nvPr/>
        </p:nvSpPr>
        <p:spPr>
          <a:xfrm>
            <a:off x="5577840" y="-2133600"/>
            <a:ext cx="603504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Registrer kjøpet</a:t>
            </a:r>
            <a:endParaRPr lang="en-US" sz="4800" dirty="0"/>
          </a:p>
        </p:txBody>
      </p:sp>
      <p:sp>
        <p:nvSpPr>
          <p:cNvPr id="30" name="!!c7_3"/>
          <p:cNvSpPr txBox="1"/>
          <p:nvPr/>
        </p:nvSpPr>
        <p:spPr>
          <a:xfrm>
            <a:off x="5577840" y="-192024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Trykk «Jeg har betalt». Delene trekkes fra lageret med en gang, så frivillige ser når de må bestille mer.</a:t>
            </a:r>
            <a:endParaRPr lang="en-US" sz="2000" dirty="0"/>
          </a:p>
        </p:txBody>
      </p:sp>
      <p:sp>
        <p:nvSpPr>
          <p:cNvPr id="31" name="!!c7_4"/>
          <p:cNvSpPr txBox="1"/>
          <p:nvPr/>
        </p:nvSpPr>
        <p:spPr>
          <a:xfrm>
            <a:off x="5577840" y="7406640"/>
            <a:ext cx="2112264" cy="384048"/>
          </a:xfrm>
          <a:prstGeom prst="roundRect">
            <a:avLst>
              <a:gd name="adj" fmla="val 50000"/>
            </a:avLst>
          </a:prstGeom>
          <a:solidFill>
            <a:srgbClr val="0F0F11"/>
          </a:solidFill>
          <a:ln w="12700">
            <a:solidFill>
              <a:srgbClr val="2A2A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Lageret oppdateres</a:t>
            </a:r>
            <a:endParaRPr lang="en-US" sz="1300" dirty="0"/>
          </a:p>
        </p:txBody>
      </p:sp>
      <p:sp>
        <p:nvSpPr>
          <p:cNvPr id="32" name="!!c7_5"/>
          <p:cNvSpPr txBox="1"/>
          <p:nvPr/>
        </p:nvSpPr>
        <p:spPr>
          <a:xfrm>
            <a:off x="7818120" y="7406640"/>
            <a:ext cx="2304288" cy="384048"/>
          </a:xfrm>
          <a:prstGeom prst="roundRect">
            <a:avLst>
              <a:gd name="adj" fmla="val 50000"/>
            </a:avLst>
          </a:prstGeom>
          <a:solidFill>
            <a:srgbClr val="0F0F11"/>
          </a:solidFill>
          <a:ln w="12700">
            <a:solidFill>
              <a:srgbClr val="2A2A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Kvittering på e-post</a:t>
            </a:r>
            <a:endParaRPr lang="en-US" sz="1300" dirty="0"/>
          </a:p>
        </p:txBody>
      </p:sp>
      <p:sp>
        <p:nvSpPr>
          <p:cNvPr id="33" name="!!c7_6"/>
          <p:cNvSpPr/>
          <p:nvPr/>
        </p:nvSpPr>
        <p:spPr>
          <a:xfrm>
            <a:off x="9537192" y="7406640"/>
            <a:ext cx="1856232" cy="713232"/>
          </a:xfrm>
          <a:prstGeom prst="roundRect">
            <a:avLst>
              <a:gd name="adj" fmla="val 15385"/>
            </a:avLst>
          </a:prstGeom>
          <a:solidFill>
            <a:srgbClr val="FF3C33">
              <a:alpha val="12000"/>
            </a:srgbClr>
          </a:solidFill>
          <a:ln w="12700">
            <a:solidFill>
              <a:srgbClr val="FF3C33"/>
            </a:solidFill>
            <a:prstDash val="solid"/>
          </a:ln>
        </p:spPr>
      </p:sp>
      <p:pic>
        <p:nvPicPr>
          <p:cNvPr id="34" name="!!c7_7" descr="/tmp/deck/a/led-step1.png">    </p:cNvPr>
          <p:cNvPicPr>
            <a:picLocks noChangeAspect="1"/>
          </p:cNvPicPr>
          <p:nvPr/>
        </p:nvPicPr>
        <p:blipFill>
          <a:blip r:embed="rId9">
            <a:alphaModFix amt="45000"/>
          </a:blip>
          <a:stretch>
            <a:fillRect/>
          </a:stretch>
        </p:blipFill>
        <p:spPr>
          <a:xfrm>
            <a:off x="5715000" y="7406640"/>
            <a:ext cx="356616" cy="530352"/>
          </a:xfrm>
          <a:prstGeom prst="rect">
            <a:avLst/>
          </a:prstGeom>
        </p:spPr>
      </p:pic>
      <p:sp>
        <p:nvSpPr>
          <p:cNvPr id="35" name="!!c7_8"/>
          <p:cNvSpPr txBox="1"/>
          <p:nvPr/>
        </p:nvSpPr>
        <p:spPr>
          <a:xfrm>
            <a:off x="6172200" y="74066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 delen</a:t>
            </a:r>
            <a:endParaRPr lang="en-US" sz="1500" dirty="0"/>
          </a:p>
        </p:txBody>
      </p:sp>
      <p:pic>
        <p:nvPicPr>
          <p:cNvPr id="36" name="!!c7_9" descr="/tmp/deck/a/led-step2.png">    </p:cNvPr>
          <p:cNvPicPr>
            <a:picLocks noChangeAspect="1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>
            <a:off x="7680960" y="7406640"/>
            <a:ext cx="356616" cy="530352"/>
          </a:xfrm>
          <a:prstGeom prst="rect">
            <a:avLst/>
          </a:prstGeom>
        </p:spPr>
      </p:pic>
      <p:sp>
        <p:nvSpPr>
          <p:cNvPr id="37" name="!!c7_10"/>
          <p:cNvSpPr txBox="1"/>
          <p:nvPr/>
        </p:nvSpPr>
        <p:spPr>
          <a:xfrm>
            <a:off x="8138160" y="74066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Betal i Vipps</a:t>
            </a:r>
            <a:endParaRPr lang="en-US" sz="1500" dirty="0"/>
          </a:p>
        </p:txBody>
      </p:sp>
      <p:pic>
        <p:nvPicPr>
          <p:cNvPr id="38" name="!!c7_11" descr="/tmp/deck/a/led-step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46920" y="7498080"/>
            <a:ext cx="356616" cy="530352"/>
          </a:xfrm>
          <a:prstGeom prst="rect">
            <a:avLst/>
          </a:prstGeom>
        </p:spPr>
      </p:pic>
      <p:sp>
        <p:nvSpPr>
          <p:cNvPr id="39" name="!!c7_12"/>
          <p:cNvSpPr txBox="1"/>
          <p:nvPr/>
        </p:nvSpPr>
        <p:spPr>
          <a:xfrm>
            <a:off x="10104120" y="749808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Registrer kjøpet</a:t>
            </a:r>
            <a:endParaRPr lang="en-US" sz="1500" dirty="0"/>
          </a:p>
        </p:txBody>
      </p:sp>
      <p:sp>
        <p:nvSpPr>
          <p:cNvPr id="40" name="!!c9_0"/>
          <p:cNvSpPr txBox="1"/>
          <p:nvPr/>
        </p:nvSpPr>
        <p:spPr>
          <a:xfrm>
            <a:off x="548640" y="-1671320"/>
            <a:ext cx="3383280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frivillige: et ekte lagersystem</a:t>
            </a:r>
            <a:endParaRPr lang="en-US" sz="3400" dirty="0"/>
          </a:p>
        </p:txBody>
      </p:sp>
      <p:sp>
        <p:nvSpPr>
          <p:cNvPr id="41" name="!!c9_1"/>
          <p:cNvSpPr txBox="1"/>
          <p:nvPr/>
        </p:nvSpPr>
        <p:spPr>
          <a:xfrm>
            <a:off x="-3840480" y="29718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Hver frivillig har egen innlogging. Oversikten viser salget og hva som trenger oppmerksomhet.</a:t>
            </a:r>
            <a:endParaRPr lang="en-US" sz="1800" dirty="0"/>
          </a:p>
        </p:txBody>
      </p:sp>
      <p:sp>
        <p:nvSpPr>
          <p:cNvPr id="42" name="!!c9_2"/>
          <p:cNvSpPr/>
          <p:nvPr/>
        </p:nvSpPr>
        <p:spPr>
          <a:xfrm>
            <a:off x="4462272" y="-5111496"/>
            <a:ext cx="7168896" cy="4562856"/>
          </a:xfrm>
          <a:prstGeom prst="roundRect">
            <a:avLst>
              <a:gd name="adj" fmla="val 3206"/>
            </a:avLst>
          </a:prstGeom>
          <a:solidFill>
            <a:srgbClr val="0B0B0C"/>
          </a:solidFill>
          <a:ln w="15875">
            <a:solidFill>
              <a:srgbClr val="34343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60000"/>
              </a:srgbClr>
            </a:outerShdw>
          </a:effectLst>
        </p:spPr>
      </p:sp>
      <p:pic>
        <p:nvPicPr>
          <p:cNvPr id="43" name="!!c9_3" descr="/tmp/deck/a/10-admin-overview-desktop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0" y="-5001768"/>
            <a:ext cx="6949440" cy="4343400"/>
          </a:xfrm>
          <a:prstGeom prst="rect">
            <a:avLst/>
          </a:prstGeom>
        </p:spPr>
      </p:pic>
      <p:sp>
        <p:nvSpPr>
          <p:cNvPr id="44" name="!!c9_4"/>
          <p:cNvSpPr/>
          <p:nvPr/>
        </p:nvSpPr>
        <p:spPr>
          <a:xfrm>
            <a:off x="4206240" y="-704088"/>
            <a:ext cx="7680960" cy="155448"/>
          </a:xfrm>
          <a:prstGeom prst="roundRect">
            <a:avLst>
              <a:gd name="adj" fmla="val 47059"/>
            </a:avLst>
          </a:prstGeom>
          <a:solidFill>
            <a:srgbClr val="1C1C20"/>
          </a:solidFill>
          <a:ln w="12700">
            <a:solidFill>
              <a:srgbClr val="34343A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orbR" descr="/tmp/deck/a/orb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291840"/>
            <a:ext cx="6400800" cy="6400800"/>
          </a:xfrm>
          <a:prstGeom prst="rect">
            <a:avLst/>
          </a:prstGeom>
        </p:spPr>
      </p:pic>
      <p:pic>
        <p:nvPicPr>
          <p:cNvPr id="4" name="!!orbG" descr="/tmp/deck/a/orb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00" y="-2560320"/>
            <a:ext cx="5943600" cy="5943600"/>
          </a:xfrm>
          <a:prstGeom prst="rect">
            <a:avLst/>
          </a:prstGeom>
        </p:spPr>
      </p:pic>
      <p:pic>
        <p:nvPicPr>
          <p:cNvPr id="5" name="!!log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1600200" cy="294198"/>
          </a:xfrm>
          <a:prstGeom prst="rect">
            <a:avLst/>
          </a:prstGeom>
        </p:spPr>
      </p:pic>
      <p:sp>
        <p:nvSpPr>
          <p:cNvPr id="6" name="!!c9_0"/>
          <p:cNvSpPr txBox="1"/>
          <p:nvPr/>
        </p:nvSpPr>
        <p:spPr>
          <a:xfrm>
            <a:off x="548640" y="1143000"/>
            <a:ext cx="3383280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frivillige: et ekte lagersystem</a:t>
            </a:r>
            <a:endParaRPr lang="en-US" sz="3400" dirty="0"/>
          </a:p>
        </p:txBody>
      </p:sp>
      <p:sp>
        <p:nvSpPr>
          <p:cNvPr id="7" name="!!c9_1"/>
          <p:cNvSpPr txBox="1"/>
          <p:nvPr/>
        </p:nvSpPr>
        <p:spPr>
          <a:xfrm>
            <a:off x="548640" y="29718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Hver frivillig har egen innlogging. Oversikten viser salget og hva som trenger oppmerksomhet.</a:t>
            </a:r>
            <a:endParaRPr lang="en-US" sz="1800" dirty="0"/>
          </a:p>
        </p:txBody>
      </p:sp>
      <p:sp>
        <p:nvSpPr>
          <p:cNvPr id="8" name="!!c9_2"/>
          <p:cNvSpPr/>
          <p:nvPr/>
        </p:nvSpPr>
        <p:spPr>
          <a:xfrm>
            <a:off x="4462272" y="1078992"/>
            <a:ext cx="7168896" cy="4562856"/>
          </a:xfrm>
          <a:prstGeom prst="roundRect">
            <a:avLst>
              <a:gd name="adj" fmla="val 3206"/>
            </a:avLst>
          </a:prstGeom>
          <a:solidFill>
            <a:srgbClr val="0B0B0C"/>
          </a:solidFill>
          <a:ln w="15875">
            <a:solidFill>
              <a:srgbClr val="34343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60000"/>
              </a:srgbClr>
            </a:outerShdw>
          </a:effectLst>
        </p:spPr>
      </p:sp>
      <p:pic>
        <p:nvPicPr>
          <p:cNvPr id="9" name="!!c9_3" descr="/tmp/deck/a/10-admin-overview-desk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188720"/>
            <a:ext cx="6949440" cy="4343400"/>
          </a:xfrm>
          <a:prstGeom prst="rect">
            <a:avLst/>
          </a:prstGeom>
        </p:spPr>
      </p:pic>
      <p:sp>
        <p:nvSpPr>
          <p:cNvPr id="10" name="!!c9_4"/>
          <p:cNvSpPr/>
          <p:nvPr/>
        </p:nvSpPr>
        <p:spPr>
          <a:xfrm>
            <a:off x="4206240" y="5641848"/>
            <a:ext cx="7680960" cy="155448"/>
          </a:xfrm>
          <a:prstGeom prst="roundRect">
            <a:avLst>
              <a:gd name="adj" fmla="val 47059"/>
            </a:avLst>
          </a:prstGeom>
          <a:solidFill>
            <a:srgbClr val="1C1C20"/>
          </a:solidFill>
          <a:ln w="12700">
            <a:solidFill>
              <a:srgbClr val="34343A"/>
            </a:solidFill>
            <a:prstDash val="solid"/>
          </a:ln>
        </p:spPr>
      </p:sp>
      <p:sp>
        <p:nvSpPr>
          <p:cNvPr id="11" name="!!c8_0"/>
          <p:cNvSpPr txBox="1"/>
          <p:nvPr/>
        </p:nvSpPr>
        <p:spPr>
          <a:xfrm>
            <a:off x="548640" y="-1869440"/>
            <a:ext cx="109728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Bygget på tillit, og ærlig om det</a:t>
            </a:r>
            <a:endParaRPr lang="en-US" sz="4000" dirty="0"/>
          </a:p>
        </p:txBody>
      </p:sp>
      <p:sp>
        <p:nvSpPr>
          <p:cNvPr id="12" name="!!c8_1"/>
          <p:cNvSpPr/>
          <p:nvPr/>
        </p:nvSpPr>
        <p:spPr>
          <a:xfrm>
            <a:off x="-3200400" y="2331720"/>
            <a:ext cx="2651760" cy="3108960"/>
          </a:xfrm>
          <a:prstGeom prst="roundRect">
            <a:avLst>
              <a:gd name="adj" fmla="val 4828"/>
            </a:avLst>
          </a:prstGeom>
          <a:solidFill>
            <a:srgbClr val="0F0F11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13" name="!!c8_2"/>
          <p:cNvSpPr/>
          <p:nvPr/>
        </p:nvSpPr>
        <p:spPr>
          <a:xfrm>
            <a:off x="-2880360" y="2697480"/>
            <a:ext cx="731520" cy="731520"/>
          </a:xfrm>
          <a:prstGeom prst="ellipse">
            <a:avLst/>
          </a:prstGeom>
          <a:solidFill>
            <a:srgbClr val="FF3C33">
              <a:alpha val="15000"/>
            </a:srgbClr>
          </a:solidFill>
          <a:ln w="12700">
            <a:solidFill>
              <a:srgbClr val="FF3C33"/>
            </a:solidFill>
            <a:prstDash val="solid"/>
          </a:ln>
        </p:spPr>
      </p:sp>
      <p:pic>
        <p:nvPicPr>
          <p:cNvPr id="14" name="!!c8_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706624" y="2871216"/>
            <a:ext cx="384048" cy="384048"/>
          </a:xfrm>
          <a:prstGeom prst="rect">
            <a:avLst/>
          </a:prstGeom>
        </p:spPr>
      </p:pic>
      <p:sp>
        <p:nvSpPr>
          <p:cNvPr id="15" name="!!c8_4"/>
          <p:cNvSpPr txBox="1"/>
          <p:nvPr/>
        </p:nvSpPr>
        <p:spPr>
          <a:xfrm>
            <a:off x="-2880360" y="3657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Aldri «bekreftet»</a:t>
            </a:r>
            <a:endParaRPr lang="en-US" sz="1900" dirty="0"/>
          </a:p>
        </p:txBody>
      </p:sp>
      <p:sp>
        <p:nvSpPr>
          <p:cNvPr id="16" name="!!c8_5"/>
          <p:cNvSpPr txBox="1"/>
          <p:nvPr/>
        </p:nvSpPr>
        <p:spPr>
          <a:xfrm>
            <a:off x="-2880360" y="43434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Siden sier aldri at betalingen er sjekket. Ingen Vipps-bedriftsavtale trengs.</a:t>
            </a:r>
            <a:endParaRPr lang="en-US" sz="1400" dirty="0"/>
          </a:p>
        </p:txBody>
      </p:sp>
      <p:sp>
        <p:nvSpPr>
          <p:cNvPr id="17" name="!!c8_6"/>
          <p:cNvSpPr/>
          <p:nvPr/>
        </p:nvSpPr>
        <p:spPr>
          <a:xfrm>
            <a:off x="3383280" y="7406640"/>
            <a:ext cx="2651760" cy="3108960"/>
          </a:xfrm>
          <a:prstGeom prst="roundRect">
            <a:avLst>
              <a:gd name="adj" fmla="val 4828"/>
            </a:avLst>
          </a:prstGeom>
          <a:solidFill>
            <a:srgbClr val="0F0F11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18" name="!!c8_7"/>
          <p:cNvSpPr/>
          <p:nvPr/>
        </p:nvSpPr>
        <p:spPr>
          <a:xfrm>
            <a:off x="3703320" y="7772400"/>
            <a:ext cx="731520" cy="731520"/>
          </a:xfrm>
          <a:prstGeom prst="ellipse">
            <a:avLst/>
          </a:prstGeom>
          <a:solidFill>
            <a:srgbClr val="FF3C33">
              <a:alpha val="15000"/>
            </a:srgbClr>
          </a:solidFill>
          <a:ln w="12700">
            <a:solidFill>
              <a:srgbClr val="FF3C33"/>
            </a:solidFill>
            <a:prstDash val="solid"/>
          </a:ln>
        </p:spPr>
      </p:sp>
      <p:pic>
        <p:nvPicPr>
          <p:cNvPr id="19" name="!!c8_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7056" y="7946136"/>
            <a:ext cx="384048" cy="384048"/>
          </a:xfrm>
          <a:prstGeom prst="rect">
            <a:avLst/>
          </a:prstGeom>
        </p:spPr>
      </p:pic>
      <p:sp>
        <p:nvSpPr>
          <p:cNvPr id="20" name="!!c8_9"/>
          <p:cNvSpPr txBox="1"/>
          <p:nvPr/>
        </p:nvSpPr>
        <p:spPr>
          <a:xfrm>
            <a:off x="3703320" y="8732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Aldri betal to ganger</a:t>
            </a:r>
            <a:endParaRPr lang="en-US" sz="1900" dirty="0"/>
          </a:p>
        </p:txBody>
      </p:sp>
      <p:sp>
        <p:nvSpPr>
          <p:cNvPr id="21" name="!!c8_10"/>
          <p:cNvSpPr txBox="1"/>
          <p:nvPr/>
        </p:nvSpPr>
        <p:spPr>
          <a:xfrm>
            <a:off x="3703320" y="9418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Mister du nettet etter betaling, fortsetter du samme kjøp.</a:t>
            </a:r>
            <a:endParaRPr lang="en-US" sz="1400" dirty="0"/>
          </a:p>
        </p:txBody>
      </p:sp>
      <p:sp>
        <p:nvSpPr>
          <p:cNvPr id="22" name="!!c8_11"/>
          <p:cNvSpPr/>
          <p:nvPr/>
        </p:nvSpPr>
        <p:spPr>
          <a:xfrm>
            <a:off x="6217920" y="7406640"/>
            <a:ext cx="2651760" cy="3108960"/>
          </a:xfrm>
          <a:prstGeom prst="roundRect">
            <a:avLst>
              <a:gd name="adj" fmla="val 4828"/>
            </a:avLst>
          </a:prstGeom>
          <a:solidFill>
            <a:srgbClr val="0F0F11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23" name="!!c8_12"/>
          <p:cNvSpPr/>
          <p:nvPr/>
        </p:nvSpPr>
        <p:spPr>
          <a:xfrm>
            <a:off x="6537960" y="7772400"/>
            <a:ext cx="731520" cy="731520"/>
          </a:xfrm>
          <a:prstGeom prst="ellipse">
            <a:avLst/>
          </a:prstGeom>
          <a:solidFill>
            <a:srgbClr val="FF3C33">
              <a:alpha val="15000"/>
            </a:srgbClr>
          </a:solidFill>
          <a:ln w="12700">
            <a:solidFill>
              <a:srgbClr val="FF3C33"/>
            </a:solidFill>
            <a:prstDash val="solid"/>
          </a:ln>
        </p:spPr>
      </p:sp>
      <p:pic>
        <p:nvPicPr>
          <p:cNvPr id="24" name="!!c8_1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1696" y="7946136"/>
            <a:ext cx="384048" cy="384048"/>
          </a:xfrm>
          <a:prstGeom prst="rect">
            <a:avLst/>
          </a:prstGeom>
        </p:spPr>
      </p:pic>
      <p:sp>
        <p:nvSpPr>
          <p:cNvPr id="25" name="!!c8_14"/>
          <p:cNvSpPr txBox="1"/>
          <p:nvPr/>
        </p:nvSpPr>
        <p:spPr>
          <a:xfrm>
            <a:off x="6537960" y="8732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Prisen fryses</a:t>
            </a:r>
            <a:endParaRPr lang="en-US" sz="1900" dirty="0"/>
          </a:p>
        </p:txBody>
      </p:sp>
      <p:sp>
        <p:nvSpPr>
          <p:cNvPr id="26" name="!!c8_15"/>
          <p:cNvSpPr txBox="1"/>
          <p:nvPr/>
        </p:nvSpPr>
        <p:spPr>
          <a:xfrm>
            <a:off x="6537960" y="9418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Beløpet i kassen endrer seg ikke mens du betaler.</a:t>
            </a:r>
            <a:endParaRPr lang="en-US" sz="1400" dirty="0"/>
          </a:p>
        </p:txBody>
      </p:sp>
      <p:sp>
        <p:nvSpPr>
          <p:cNvPr id="27" name="!!c8_16"/>
          <p:cNvSpPr/>
          <p:nvPr/>
        </p:nvSpPr>
        <p:spPr>
          <a:xfrm>
            <a:off x="12740335" y="2331720"/>
            <a:ext cx="2651760" cy="3108960"/>
          </a:xfrm>
          <a:prstGeom prst="roundRect">
            <a:avLst>
              <a:gd name="adj" fmla="val 4828"/>
            </a:avLst>
          </a:prstGeom>
          <a:solidFill>
            <a:srgbClr val="0F0F11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28" name="!!c8_17"/>
          <p:cNvSpPr/>
          <p:nvPr/>
        </p:nvSpPr>
        <p:spPr>
          <a:xfrm>
            <a:off x="13060375" y="2697480"/>
            <a:ext cx="731520" cy="731520"/>
          </a:xfrm>
          <a:prstGeom prst="ellipse">
            <a:avLst/>
          </a:prstGeom>
          <a:solidFill>
            <a:srgbClr val="FF3C33">
              <a:alpha val="15000"/>
            </a:srgbClr>
          </a:solidFill>
          <a:ln w="12700">
            <a:solidFill>
              <a:srgbClr val="FF3C33"/>
            </a:solidFill>
            <a:prstDash val="solid"/>
          </a:ln>
        </p:spPr>
      </p:sp>
      <p:pic>
        <p:nvPicPr>
          <p:cNvPr id="29" name="!!c8_1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34111" y="2871216"/>
            <a:ext cx="384048" cy="384048"/>
          </a:xfrm>
          <a:prstGeom prst="rect">
            <a:avLst/>
          </a:prstGeom>
        </p:spPr>
      </p:pic>
      <p:sp>
        <p:nvSpPr>
          <p:cNvPr id="30" name="!!c8_19"/>
          <p:cNvSpPr txBox="1"/>
          <p:nvPr/>
        </p:nvSpPr>
        <p:spPr>
          <a:xfrm>
            <a:off x="13060375" y="3657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Skanning kjøper ingenting</a:t>
            </a:r>
            <a:endParaRPr lang="en-US" sz="1900" dirty="0"/>
          </a:p>
        </p:txBody>
      </p:sp>
      <p:sp>
        <p:nvSpPr>
          <p:cNvPr id="31" name="!!c8_20"/>
          <p:cNvSpPr txBox="1"/>
          <p:nvPr/>
        </p:nvSpPr>
        <p:spPr>
          <a:xfrm>
            <a:off x="13060375" y="43434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QR-kode åpner bare produktsiden.</a:t>
            </a:r>
            <a:endParaRPr lang="en-US" sz="1400" dirty="0"/>
          </a:p>
        </p:txBody>
      </p:sp>
      <p:sp>
        <p:nvSpPr>
          <p:cNvPr id="32" name="!!c10_0"/>
          <p:cNvSpPr/>
          <p:nvPr/>
        </p:nvSpPr>
        <p:spPr>
          <a:xfrm>
            <a:off x="713232" y="-5111496"/>
            <a:ext cx="7168896" cy="4562856"/>
          </a:xfrm>
          <a:prstGeom prst="roundRect">
            <a:avLst>
              <a:gd name="adj" fmla="val 3206"/>
            </a:avLst>
          </a:prstGeom>
          <a:solidFill>
            <a:srgbClr val="0B0B0C"/>
          </a:solidFill>
          <a:ln w="15875">
            <a:solidFill>
              <a:srgbClr val="34343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60000"/>
              </a:srgbClr>
            </a:outerShdw>
          </a:effectLst>
        </p:spPr>
      </p:sp>
      <p:pic>
        <p:nvPicPr>
          <p:cNvPr id="33" name="!!c10_1" descr="/tmp/deck/a/16-admin-stock-history-RES-00005-desktop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-5001768"/>
            <a:ext cx="6949440" cy="4343400"/>
          </a:xfrm>
          <a:prstGeom prst="rect">
            <a:avLst/>
          </a:prstGeom>
        </p:spPr>
      </p:pic>
      <p:sp>
        <p:nvSpPr>
          <p:cNvPr id="34" name="!!c10_2"/>
          <p:cNvSpPr/>
          <p:nvPr/>
        </p:nvSpPr>
        <p:spPr>
          <a:xfrm>
            <a:off x="457200" y="-704088"/>
            <a:ext cx="7680960" cy="155448"/>
          </a:xfrm>
          <a:prstGeom prst="roundRect">
            <a:avLst>
              <a:gd name="adj" fmla="val 47059"/>
            </a:avLst>
          </a:prstGeom>
          <a:solidFill>
            <a:srgbClr val="1C1C20"/>
          </a:solidFill>
          <a:ln w="12700">
            <a:solidFill>
              <a:srgbClr val="34343A"/>
            </a:solidFill>
            <a:prstDash val="solid"/>
          </a:ln>
        </p:spPr>
      </p:sp>
      <p:sp>
        <p:nvSpPr>
          <p:cNvPr id="35" name="!!c10_3"/>
          <p:cNvSpPr/>
          <p:nvPr/>
        </p:nvSpPr>
        <p:spPr>
          <a:xfrm>
            <a:off x="2430018" y="-2819210"/>
            <a:ext cx="5038344" cy="434340"/>
          </a:xfrm>
          <a:prstGeom prst="roundRect">
            <a:avLst>
              <a:gd name="adj" fmla="val 12632"/>
            </a:avLst>
          </a:prstGeom>
          <a:solidFill>
            <a:srgbClr val="FF3C33">
              <a:alpha val="10000"/>
            </a:srgbClr>
          </a:solidFill>
          <a:ln w="28575">
            <a:solidFill>
              <a:srgbClr val="FF3C33"/>
            </a:solidFill>
            <a:prstDash val="solid"/>
          </a:ln>
          <a:effectLst>
            <a:outerShdw sx="100000" sy="100000" kx="0" ky="0" algn="bl" rotWithShape="0" blurRad="203200" dist="50800" dir="5400000">
              <a:srgbClr val="FF3C33">
                <a:alpha val="70000"/>
              </a:srgbClr>
            </a:outerShdw>
          </a:effectLst>
        </p:spPr>
      </p:sp>
      <p:sp>
        <p:nvSpPr>
          <p:cNvPr id="36" name="!!c10_4"/>
          <p:cNvSpPr txBox="1"/>
          <p:nvPr/>
        </p:nvSpPr>
        <p:spPr>
          <a:xfrm>
            <a:off x="8229600" y="-1605280"/>
            <a:ext cx="3429000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Kjøpet står allerede i historikken</a:t>
            </a:r>
            <a:endParaRPr lang="en-US" sz="3200" dirty="0"/>
          </a:p>
        </p:txBody>
      </p:sp>
      <p:sp>
        <p:nvSpPr>
          <p:cNvPr id="37" name="!!c10_5"/>
          <p:cNvSpPr txBox="1"/>
          <p:nvPr/>
        </p:nvSpPr>
        <p:spPr>
          <a:xfrm>
            <a:off x="12740335" y="292608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Lagerendringer redigeres aldri. Feil rettes med en ny bevegelse og en begrunnelse.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orbR" descr="/tmp/deck/a/orb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194560" y="3108960"/>
            <a:ext cx="6400800" cy="6400800"/>
          </a:xfrm>
          <a:prstGeom prst="rect">
            <a:avLst/>
          </a:prstGeom>
        </p:spPr>
      </p:pic>
      <p:pic>
        <p:nvPicPr>
          <p:cNvPr id="4" name="!!orbG" descr="/tmp/deck/a/orb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-2377440"/>
            <a:ext cx="5943600" cy="5943600"/>
          </a:xfrm>
          <a:prstGeom prst="rect">
            <a:avLst/>
          </a:prstGeom>
        </p:spPr>
      </p:pic>
      <p:pic>
        <p:nvPicPr>
          <p:cNvPr id="5" name="!!log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1600200" cy="294198"/>
          </a:xfrm>
          <a:prstGeom prst="rect">
            <a:avLst/>
          </a:prstGeom>
        </p:spPr>
      </p:pic>
      <p:sp>
        <p:nvSpPr>
          <p:cNvPr id="6" name="!!c10_0"/>
          <p:cNvSpPr/>
          <p:nvPr/>
        </p:nvSpPr>
        <p:spPr>
          <a:xfrm>
            <a:off x="713232" y="1078992"/>
            <a:ext cx="7168896" cy="4562856"/>
          </a:xfrm>
          <a:prstGeom prst="roundRect">
            <a:avLst>
              <a:gd name="adj" fmla="val 3206"/>
            </a:avLst>
          </a:prstGeom>
          <a:solidFill>
            <a:srgbClr val="0B0B0C"/>
          </a:solidFill>
          <a:ln w="15875">
            <a:solidFill>
              <a:srgbClr val="34343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60000"/>
              </a:srgbClr>
            </a:outerShdw>
          </a:effectLst>
        </p:spPr>
      </p:sp>
      <p:pic>
        <p:nvPicPr>
          <p:cNvPr id="7" name="!!c10_1" descr="/tmp/deck/a/16-admin-stock-history-RES-00005-desk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188720"/>
            <a:ext cx="6949440" cy="4343400"/>
          </a:xfrm>
          <a:prstGeom prst="rect">
            <a:avLst/>
          </a:prstGeom>
        </p:spPr>
      </p:pic>
      <p:sp>
        <p:nvSpPr>
          <p:cNvPr id="8" name="!!c10_2"/>
          <p:cNvSpPr/>
          <p:nvPr/>
        </p:nvSpPr>
        <p:spPr>
          <a:xfrm>
            <a:off x="457200" y="5641848"/>
            <a:ext cx="7680960" cy="155448"/>
          </a:xfrm>
          <a:prstGeom prst="roundRect">
            <a:avLst>
              <a:gd name="adj" fmla="val 47059"/>
            </a:avLst>
          </a:prstGeom>
          <a:solidFill>
            <a:srgbClr val="1C1C20"/>
          </a:solidFill>
          <a:ln w="12700">
            <a:solidFill>
              <a:srgbClr val="34343A"/>
            </a:solidFill>
            <a:prstDash val="solid"/>
          </a:ln>
        </p:spPr>
      </p:sp>
      <p:sp>
        <p:nvSpPr>
          <p:cNvPr id="9" name="!!c10_3"/>
          <p:cNvSpPr/>
          <p:nvPr/>
        </p:nvSpPr>
        <p:spPr>
          <a:xfrm>
            <a:off x="2430018" y="3371278"/>
            <a:ext cx="5038344" cy="434340"/>
          </a:xfrm>
          <a:prstGeom prst="roundRect">
            <a:avLst>
              <a:gd name="adj" fmla="val 12632"/>
            </a:avLst>
          </a:prstGeom>
          <a:solidFill>
            <a:srgbClr val="FF3C33">
              <a:alpha val="10000"/>
            </a:srgbClr>
          </a:solidFill>
          <a:ln w="28575">
            <a:solidFill>
              <a:srgbClr val="FF3C33"/>
            </a:solidFill>
            <a:prstDash val="solid"/>
          </a:ln>
          <a:effectLst>
            <a:outerShdw sx="100000" sy="100000" kx="0" ky="0" algn="bl" rotWithShape="0" blurRad="203200" dist="50800" dir="5400000">
              <a:srgbClr val="FF3C33">
                <a:alpha val="70000"/>
              </a:srgbClr>
            </a:outerShdw>
          </a:effectLst>
        </p:spPr>
      </p:sp>
      <p:sp>
        <p:nvSpPr>
          <p:cNvPr id="10" name="!!c10_4"/>
          <p:cNvSpPr txBox="1"/>
          <p:nvPr/>
        </p:nvSpPr>
        <p:spPr>
          <a:xfrm>
            <a:off x="8229600" y="1143000"/>
            <a:ext cx="3429000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Kjøpet står allerede i historikken</a:t>
            </a:r>
            <a:endParaRPr lang="en-US" sz="3200" dirty="0"/>
          </a:p>
        </p:txBody>
      </p:sp>
      <p:sp>
        <p:nvSpPr>
          <p:cNvPr id="11" name="!!c10_5"/>
          <p:cNvSpPr txBox="1"/>
          <p:nvPr/>
        </p:nvSpPr>
        <p:spPr>
          <a:xfrm>
            <a:off x="8229600" y="292608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Lagerendringer redigeres aldri. Feil rettes med en ny bevegelse og en begrunnelse.</a:t>
            </a:r>
            <a:endParaRPr lang="en-US" sz="1800" dirty="0"/>
          </a:p>
        </p:txBody>
      </p:sp>
      <p:sp>
        <p:nvSpPr>
          <p:cNvPr id="12" name="!!c9_0"/>
          <p:cNvSpPr txBox="1"/>
          <p:nvPr/>
        </p:nvSpPr>
        <p:spPr>
          <a:xfrm>
            <a:off x="548640" y="-1671320"/>
            <a:ext cx="3383280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frivillige: et ekte lagersystem</a:t>
            </a:r>
            <a:endParaRPr lang="en-US" sz="3400" dirty="0"/>
          </a:p>
        </p:txBody>
      </p:sp>
      <p:sp>
        <p:nvSpPr>
          <p:cNvPr id="13" name="!!c9_1"/>
          <p:cNvSpPr txBox="1"/>
          <p:nvPr/>
        </p:nvSpPr>
        <p:spPr>
          <a:xfrm>
            <a:off x="-3840480" y="29718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Hver frivillig har egen innlogging. Oversikten viser salget og hva som trenger oppmerksomhet.</a:t>
            </a:r>
            <a:endParaRPr lang="en-US" sz="1800" dirty="0"/>
          </a:p>
        </p:txBody>
      </p:sp>
      <p:sp>
        <p:nvSpPr>
          <p:cNvPr id="14" name="!!c9_2"/>
          <p:cNvSpPr/>
          <p:nvPr/>
        </p:nvSpPr>
        <p:spPr>
          <a:xfrm>
            <a:off x="4462272" y="-5111496"/>
            <a:ext cx="7168896" cy="4562856"/>
          </a:xfrm>
          <a:prstGeom prst="roundRect">
            <a:avLst>
              <a:gd name="adj" fmla="val 3206"/>
            </a:avLst>
          </a:prstGeom>
          <a:solidFill>
            <a:srgbClr val="0B0B0C"/>
          </a:solidFill>
          <a:ln w="15875">
            <a:solidFill>
              <a:srgbClr val="34343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60000"/>
              </a:srgbClr>
            </a:outerShdw>
          </a:effectLst>
        </p:spPr>
      </p:sp>
      <p:pic>
        <p:nvPicPr>
          <p:cNvPr id="15" name="!!c9_3" descr="/tmp/deck/a/10-admin-overview-deskto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-5001768"/>
            <a:ext cx="6949440" cy="4343400"/>
          </a:xfrm>
          <a:prstGeom prst="rect">
            <a:avLst/>
          </a:prstGeom>
        </p:spPr>
      </p:pic>
      <p:sp>
        <p:nvSpPr>
          <p:cNvPr id="16" name="!!c9_4"/>
          <p:cNvSpPr/>
          <p:nvPr/>
        </p:nvSpPr>
        <p:spPr>
          <a:xfrm>
            <a:off x="4206240" y="-704088"/>
            <a:ext cx="7680960" cy="155448"/>
          </a:xfrm>
          <a:prstGeom prst="roundRect">
            <a:avLst>
              <a:gd name="adj" fmla="val 47059"/>
            </a:avLst>
          </a:prstGeom>
          <a:solidFill>
            <a:srgbClr val="1C1C20"/>
          </a:solidFill>
          <a:ln w="12700">
            <a:solidFill>
              <a:srgbClr val="34343A"/>
            </a:solidFill>
            <a:prstDash val="solid"/>
          </a:ln>
        </p:spPr>
      </p:sp>
      <p:sp>
        <p:nvSpPr>
          <p:cNvPr id="17" name="!!c11_0"/>
          <p:cNvSpPr txBox="1"/>
          <p:nvPr/>
        </p:nvSpPr>
        <p:spPr>
          <a:xfrm>
            <a:off x="548640" y="-17373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Etiketter på A4-ark eller fra skriveren</a:t>
            </a:r>
            <a:endParaRPr lang="en-US" sz="3600" dirty="0"/>
          </a:p>
        </p:txBody>
      </p:sp>
      <p:sp>
        <p:nvSpPr>
          <p:cNvPr id="18" name="!!c11_1"/>
          <p:cNvSpPr/>
          <p:nvPr/>
        </p:nvSpPr>
        <p:spPr>
          <a:xfrm>
            <a:off x="667512" y="7406640"/>
            <a:ext cx="5065776" cy="3248406"/>
          </a:xfrm>
          <a:prstGeom prst="roundRect">
            <a:avLst>
              <a:gd name="adj" fmla="val 4504"/>
            </a:avLst>
          </a:prstGeom>
          <a:solidFill>
            <a:srgbClr val="0B0B0C"/>
          </a:solidFill>
          <a:ln w="15875">
            <a:solidFill>
              <a:srgbClr val="34343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60000"/>
              </a:srgbClr>
            </a:outerShdw>
          </a:effectLst>
        </p:spPr>
      </p:sp>
      <p:pic>
        <p:nvPicPr>
          <p:cNvPr id="19" name="!!c11_2" descr="/tmp/deck/a/20-admin-labels-preview-deskto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7516368"/>
            <a:ext cx="4846320" cy="3028950"/>
          </a:xfrm>
          <a:prstGeom prst="rect">
            <a:avLst/>
          </a:prstGeom>
        </p:spPr>
      </p:pic>
      <p:sp>
        <p:nvSpPr>
          <p:cNvPr id="20" name="!!c11_3"/>
          <p:cNvSpPr/>
          <p:nvPr/>
        </p:nvSpPr>
        <p:spPr>
          <a:xfrm>
            <a:off x="411480" y="10655046"/>
            <a:ext cx="5577840" cy="155448"/>
          </a:xfrm>
          <a:prstGeom prst="roundRect">
            <a:avLst>
              <a:gd name="adj" fmla="val 47059"/>
            </a:avLst>
          </a:prstGeom>
          <a:solidFill>
            <a:srgbClr val="1C1C20"/>
          </a:solidFill>
          <a:ln w="12700">
            <a:solidFill>
              <a:srgbClr val="34343A"/>
            </a:solidFill>
            <a:prstDash val="solid"/>
          </a:ln>
        </p:spPr>
      </p:sp>
      <p:pic>
        <p:nvPicPr>
          <p:cNvPr id="21" name="!!c11_4" descr="/tmp/deck/a/led-4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235722" y="5559552"/>
            <a:ext cx="687082" cy="548640"/>
          </a:xfrm>
          <a:prstGeom prst="rect">
            <a:avLst/>
          </a:prstGeom>
        </p:spPr>
      </p:pic>
      <p:sp>
        <p:nvSpPr>
          <p:cNvPr id="22" name="!!c11_5"/>
          <p:cNvSpPr txBox="1"/>
          <p:nvPr/>
        </p:nvSpPr>
        <p:spPr>
          <a:xfrm>
            <a:off x="-4754880" y="5669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etiketter på 3 A4-ark fra kabinett A1</a:t>
            </a:r>
            <a:endParaRPr lang="en-US" sz="1600" dirty="0"/>
          </a:p>
        </p:txBody>
      </p:sp>
      <p:pic>
        <p:nvPicPr>
          <p:cNvPr id="23" name="!!c11_6" descr="/tmp/deck/a/print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40335" y="2514600"/>
            <a:ext cx="4114800" cy="2474441"/>
          </a:xfrm>
          <a:prstGeom prst="rect">
            <a:avLst/>
          </a:prstGeom>
        </p:spPr>
      </p:pic>
      <p:pic>
        <p:nvPicPr>
          <p:cNvPr id="24" name="!!c11_7" descr="/tmp/deck/a/tape-labe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300000">
            <a:off x="5989320" y="7406640"/>
            <a:ext cx="1691640" cy="1896687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60000"/>
              </a:srgbClr>
            </a:outerShdw>
          </a:effectLst>
        </p:spPr>
      </p:pic>
      <p:sp>
        <p:nvSpPr>
          <p:cNvPr id="25" name="!!c11_8"/>
          <p:cNvSpPr txBox="1"/>
          <p:nvPr/>
        </p:nvSpPr>
        <p:spPr>
          <a:xfrm>
            <a:off x="5989320" y="74066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 PT-P700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 etikett om gangen, rett fra produktsiden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orbR" descr="/tmp/deck/a/orb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3474720"/>
            <a:ext cx="6400800" cy="6400800"/>
          </a:xfrm>
          <a:prstGeom prst="rect">
            <a:avLst/>
          </a:prstGeom>
        </p:spPr>
      </p:pic>
      <p:pic>
        <p:nvPicPr>
          <p:cNvPr id="4" name="!!orbG" descr="/tmp/deck/a/orb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77440" y="-2377440"/>
            <a:ext cx="5486400" cy="5486400"/>
          </a:xfrm>
          <a:prstGeom prst="rect">
            <a:avLst/>
          </a:prstGeom>
        </p:spPr>
      </p:pic>
      <p:pic>
        <p:nvPicPr>
          <p:cNvPr id="5" name="!!log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1600200" cy="294198"/>
          </a:xfrm>
          <a:prstGeom prst="rect">
            <a:avLst/>
          </a:prstGeom>
        </p:spPr>
      </p:pic>
      <p:sp>
        <p:nvSpPr>
          <p:cNvPr id="6" name="!!c11_0"/>
          <p:cNvSpPr txBox="1"/>
          <p:nvPr/>
        </p:nvSpPr>
        <p:spPr>
          <a:xfrm>
            <a:off x="548640" y="10972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Etiketter på A4-ark eller fra skriveren</a:t>
            </a:r>
            <a:endParaRPr lang="en-US" sz="3600" dirty="0"/>
          </a:p>
        </p:txBody>
      </p:sp>
      <p:sp>
        <p:nvSpPr>
          <p:cNvPr id="7" name="!!c11_1"/>
          <p:cNvSpPr/>
          <p:nvPr/>
        </p:nvSpPr>
        <p:spPr>
          <a:xfrm>
            <a:off x="667512" y="2084832"/>
            <a:ext cx="5065776" cy="3248406"/>
          </a:xfrm>
          <a:prstGeom prst="roundRect">
            <a:avLst>
              <a:gd name="adj" fmla="val 4504"/>
            </a:avLst>
          </a:prstGeom>
          <a:solidFill>
            <a:srgbClr val="0B0B0C"/>
          </a:solidFill>
          <a:ln w="15875">
            <a:solidFill>
              <a:srgbClr val="34343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60000"/>
              </a:srgbClr>
            </a:outerShdw>
          </a:effectLst>
        </p:spPr>
      </p:sp>
      <p:pic>
        <p:nvPicPr>
          <p:cNvPr id="8" name="!!c11_2" descr="/tmp/deck/a/20-admin-labels-preview-desk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194560"/>
            <a:ext cx="4846320" cy="3028950"/>
          </a:xfrm>
          <a:prstGeom prst="rect">
            <a:avLst/>
          </a:prstGeom>
        </p:spPr>
      </p:pic>
      <p:sp>
        <p:nvSpPr>
          <p:cNvPr id="9" name="!!c11_3"/>
          <p:cNvSpPr/>
          <p:nvPr/>
        </p:nvSpPr>
        <p:spPr>
          <a:xfrm>
            <a:off x="411480" y="5333238"/>
            <a:ext cx="5577840" cy="155448"/>
          </a:xfrm>
          <a:prstGeom prst="roundRect">
            <a:avLst>
              <a:gd name="adj" fmla="val 47059"/>
            </a:avLst>
          </a:prstGeom>
          <a:solidFill>
            <a:srgbClr val="1C1C20"/>
          </a:solidFill>
          <a:ln w="12700">
            <a:solidFill>
              <a:srgbClr val="34343A"/>
            </a:solidFill>
            <a:prstDash val="solid"/>
          </a:ln>
        </p:spPr>
      </p:sp>
      <p:pic>
        <p:nvPicPr>
          <p:cNvPr id="10" name="!!c11_4" descr="/tmp/deck/a/led-4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559552"/>
            <a:ext cx="687082" cy="548640"/>
          </a:xfrm>
          <a:prstGeom prst="rect">
            <a:avLst/>
          </a:prstGeom>
        </p:spPr>
      </p:pic>
      <p:sp>
        <p:nvSpPr>
          <p:cNvPr id="11" name="!!c11_5"/>
          <p:cNvSpPr txBox="1"/>
          <p:nvPr/>
        </p:nvSpPr>
        <p:spPr>
          <a:xfrm>
            <a:off x="1463040" y="5669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etiketter på 3 A4-ark fra kabinett A1</a:t>
            </a:r>
            <a:endParaRPr lang="en-US" sz="1600" dirty="0"/>
          </a:p>
        </p:txBody>
      </p:sp>
      <p:pic>
        <p:nvPicPr>
          <p:cNvPr id="12" name="!!c11_6" descr="/tmp/deck/a/print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2514600"/>
            <a:ext cx="4114800" cy="2474441"/>
          </a:xfrm>
          <a:prstGeom prst="rect">
            <a:avLst/>
          </a:prstGeom>
        </p:spPr>
      </p:pic>
      <p:pic>
        <p:nvPicPr>
          <p:cNvPr id="13" name="!!c11_7" descr="/tmp/deck/a/tape-labe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300000">
            <a:off x="5989320" y="2697480"/>
            <a:ext cx="1691640" cy="1896687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60000"/>
              </a:srgbClr>
            </a:outerShdw>
          </a:effectLst>
        </p:spPr>
      </p:pic>
      <p:sp>
        <p:nvSpPr>
          <p:cNvPr id="14" name="!!c11_8"/>
          <p:cNvSpPr txBox="1"/>
          <p:nvPr/>
        </p:nvSpPr>
        <p:spPr>
          <a:xfrm>
            <a:off x="5989320" y="55321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 PT-P700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 etikett om gangen, rett fra produktsiden</a:t>
            </a:r>
            <a:endParaRPr lang="en-US" sz="1800" dirty="0"/>
          </a:p>
        </p:txBody>
      </p:sp>
      <p:sp>
        <p:nvSpPr>
          <p:cNvPr id="15" name="!!c10_0"/>
          <p:cNvSpPr/>
          <p:nvPr/>
        </p:nvSpPr>
        <p:spPr>
          <a:xfrm>
            <a:off x="713232" y="-5111496"/>
            <a:ext cx="7168896" cy="4562856"/>
          </a:xfrm>
          <a:prstGeom prst="roundRect">
            <a:avLst>
              <a:gd name="adj" fmla="val 3206"/>
            </a:avLst>
          </a:prstGeom>
          <a:solidFill>
            <a:srgbClr val="0B0B0C"/>
          </a:solidFill>
          <a:ln w="15875">
            <a:solidFill>
              <a:srgbClr val="34343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60000"/>
              </a:srgbClr>
            </a:outerShdw>
          </a:effectLst>
        </p:spPr>
      </p:sp>
      <p:pic>
        <p:nvPicPr>
          <p:cNvPr id="16" name="!!c10_1" descr="/tmp/deck/a/16-admin-stock-history-RES-00005-deskto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-5001768"/>
            <a:ext cx="6949440" cy="4343400"/>
          </a:xfrm>
          <a:prstGeom prst="rect">
            <a:avLst/>
          </a:prstGeom>
        </p:spPr>
      </p:pic>
      <p:sp>
        <p:nvSpPr>
          <p:cNvPr id="17" name="!!c10_2"/>
          <p:cNvSpPr/>
          <p:nvPr/>
        </p:nvSpPr>
        <p:spPr>
          <a:xfrm>
            <a:off x="457200" y="-704088"/>
            <a:ext cx="7680960" cy="155448"/>
          </a:xfrm>
          <a:prstGeom prst="roundRect">
            <a:avLst>
              <a:gd name="adj" fmla="val 47059"/>
            </a:avLst>
          </a:prstGeom>
          <a:solidFill>
            <a:srgbClr val="1C1C20"/>
          </a:solidFill>
          <a:ln w="12700">
            <a:solidFill>
              <a:srgbClr val="34343A"/>
            </a:solidFill>
            <a:prstDash val="solid"/>
          </a:ln>
        </p:spPr>
      </p:sp>
      <p:sp>
        <p:nvSpPr>
          <p:cNvPr id="18" name="!!c10_3"/>
          <p:cNvSpPr/>
          <p:nvPr/>
        </p:nvSpPr>
        <p:spPr>
          <a:xfrm>
            <a:off x="2430018" y="-2819210"/>
            <a:ext cx="5038344" cy="434340"/>
          </a:xfrm>
          <a:prstGeom prst="roundRect">
            <a:avLst>
              <a:gd name="adj" fmla="val 12632"/>
            </a:avLst>
          </a:prstGeom>
          <a:solidFill>
            <a:srgbClr val="FF3C33">
              <a:alpha val="10000"/>
            </a:srgbClr>
          </a:solidFill>
          <a:ln w="28575">
            <a:solidFill>
              <a:srgbClr val="FF3C33"/>
            </a:solidFill>
            <a:prstDash val="solid"/>
          </a:ln>
          <a:effectLst>
            <a:outerShdw sx="100000" sy="100000" kx="0" ky="0" algn="bl" rotWithShape="0" blurRad="203200" dist="50800" dir="5400000">
              <a:srgbClr val="FF3C33">
                <a:alpha val="70000"/>
              </a:srgbClr>
            </a:outerShdw>
          </a:effectLst>
        </p:spPr>
      </p:sp>
      <p:sp>
        <p:nvSpPr>
          <p:cNvPr id="19" name="!!c10_4"/>
          <p:cNvSpPr txBox="1"/>
          <p:nvPr/>
        </p:nvSpPr>
        <p:spPr>
          <a:xfrm>
            <a:off x="8229600" y="-1605280"/>
            <a:ext cx="3429000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Kjøpet står allerede i historikken</a:t>
            </a:r>
            <a:endParaRPr lang="en-US" sz="3200" dirty="0"/>
          </a:p>
        </p:txBody>
      </p:sp>
      <p:sp>
        <p:nvSpPr>
          <p:cNvPr id="20" name="!!c10_5"/>
          <p:cNvSpPr txBox="1"/>
          <p:nvPr/>
        </p:nvSpPr>
        <p:spPr>
          <a:xfrm>
            <a:off x="12740335" y="292608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Lagerendringer redigeres aldri. Feil rettes med en ny bevegelse og en begrunnelse.</a:t>
            </a:r>
            <a:endParaRPr lang="en-US" sz="1800" dirty="0"/>
          </a:p>
        </p:txBody>
      </p:sp>
      <p:sp>
        <p:nvSpPr>
          <p:cNvPr id="21" name="!!c12_0"/>
          <p:cNvSpPr txBox="1"/>
          <p:nvPr/>
        </p:nvSpPr>
        <p:spPr>
          <a:xfrm>
            <a:off x="548640" y="-1869440"/>
            <a:ext cx="109728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sporbarhet</a:t>
            </a:r>
            <a:endParaRPr lang="en-US" sz="4000" dirty="0"/>
          </a:p>
        </p:txBody>
      </p:sp>
      <p:sp>
        <p:nvSpPr>
          <p:cNvPr id="22" name="!!c12_1"/>
          <p:cNvSpPr/>
          <p:nvPr/>
        </p:nvSpPr>
        <p:spPr>
          <a:xfrm>
            <a:off x="-4197096" y="2084832"/>
            <a:ext cx="3648456" cy="2362581"/>
          </a:xfrm>
          <a:prstGeom prst="roundRect">
            <a:avLst>
              <a:gd name="adj" fmla="val 6193"/>
            </a:avLst>
          </a:prstGeom>
          <a:solidFill>
            <a:srgbClr val="0B0B0C"/>
          </a:solidFill>
          <a:ln w="15875">
            <a:solidFill>
              <a:srgbClr val="34343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60000"/>
              </a:srgbClr>
            </a:outerShdw>
          </a:effectLst>
        </p:spPr>
      </p:sp>
      <p:pic>
        <p:nvPicPr>
          <p:cNvPr id="23" name="!!c12_2" descr="/tmp/deck/a/17-admin-orders-desktop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4087368" y="2194560"/>
            <a:ext cx="3429000" cy="2143125"/>
          </a:xfrm>
          <a:prstGeom prst="rect">
            <a:avLst/>
          </a:prstGeom>
        </p:spPr>
      </p:pic>
      <p:sp>
        <p:nvSpPr>
          <p:cNvPr id="24" name="!!c12_3"/>
          <p:cNvSpPr txBox="1"/>
          <p:nvPr/>
        </p:nvSpPr>
        <p:spPr>
          <a:xfrm>
            <a:off x="548640" y="7406640"/>
            <a:ext cx="3648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Bestillinger og mottak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Innkjøp og delvise leveranser</a:t>
            </a:r>
            <a:endParaRPr lang="en-US" sz="2000" dirty="0"/>
          </a:p>
        </p:txBody>
      </p:sp>
      <p:sp>
        <p:nvSpPr>
          <p:cNvPr id="25" name="!!c12_4"/>
          <p:cNvSpPr/>
          <p:nvPr/>
        </p:nvSpPr>
        <p:spPr>
          <a:xfrm>
            <a:off x="4261104" y="-2911221"/>
            <a:ext cx="3648456" cy="2362581"/>
          </a:xfrm>
          <a:prstGeom prst="roundRect">
            <a:avLst>
              <a:gd name="adj" fmla="val 6193"/>
            </a:avLst>
          </a:prstGeom>
          <a:solidFill>
            <a:srgbClr val="0B0B0C"/>
          </a:solidFill>
          <a:ln w="15875">
            <a:solidFill>
              <a:srgbClr val="34343A"/>
            </a:solidFill>
            <a:prstDash val="solid"/>
          </a:ln>
        </p:spPr>
      </p:sp>
      <p:pic>
        <p:nvPicPr>
          <p:cNvPr id="26" name="!!c12_5" descr="/tmp/deck/a/18-admin-audit-desktop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70832" y="-2801493"/>
            <a:ext cx="3429000" cy="2143125"/>
          </a:xfrm>
          <a:prstGeom prst="rect">
            <a:avLst/>
          </a:prstGeom>
        </p:spPr>
      </p:pic>
      <p:sp>
        <p:nvSpPr>
          <p:cNvPr id="27" name="!!c12_6"/>
          <p:cNvSpPr txBox="1"/>
          <p:nvPr/>
        </p:nvSpPr>
        <p:spPr>
          <a:xfrm>
            <a:off x="4261104" y="7406640"/>
            <a:ext cx="3648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Endringslogg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Hvem gjorde hva, og når</a:t>
            </a:r>
            <a:endParaRPr lang="en-US" sz="2000" dirty="0"/>
          </a:p>
        </p:txBody>
      </p:sp>
      <p:sp>
        <p:nvSpPr>
          <p:cNvPr id="28" name="!!c12_7"/>
          <p:cNvSpPr/>
          <p:nvPr/>
        </p:nvSpPr>
        <p:spPr>
          <a:xfrm>
            <a:off x="12740335" y="2084832"/>
            <a:ext cx="3648456" cy="2362581"/>
          </a:xfrm>
          <a:prstGeom prst="roundRect">
            <a:avLst>
              <a:gd name="adj" fmla="val 6193"/>
            </a:avLst>
          </a:prstGeom>
          <a:solidFill>
            <a:srgbClr val="0B0B0C"/>
          </a:solidFill>
          <a:ln w="15875">
            <a:solidFill>
              <a:srgbClr val="34343A"/>
            </a:solidFill>
            <a:prstDash val="solid"/>
          </a:ln>
        </p:spPr>
      </p:sp>
      <p:pic>
        <p:nvPicPr>
          <p:cNvPr id="29" name="!!c12_8" descr="/tmp/deck/a/19-admin-admins-desktop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50063" y="2194560"/>
            <a:ext cx="3429000" cy="2143125"/>
          </a:xfrm>
          <a:prstGeom prst="rect">
            <a:avLst/>
          </a:prstGeom>
        </p:spPr>
      </p:pic>
      <p:sp>
        <p:nvSpPr>
          <p:cNvPr id="30" name="!!c12_9"/>
          <p:cNvSpPr txBox="1"/>
          <p:nvPr/>
        </p:nvSpPr>
        <p:spPr>
          <a:xfrm>
            <a:off x="7973568" y="7406640"/>
            <a:ext cx="3648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Administratorer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Inviter og fjern frivillige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orbR" descr="/tmp/deck/a/orb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3474720"/>
            <a:ext cx="6400800" cy="6400800"/>
          </a:xfrm>
          <a:prstGeom prst="rect">
            <a:avLst/>
          </a:prstGeom>
        </p:spPr>
      </p:pic>
      <p:pic>
        <p:nvPicPr>
          <p:cNvPr id="4" name="!!orbG" descr="/tmp/deck/a/orb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-2743200"/>
            <a:ext cx="5486400" cy="5486400"/>
          </a:xfrm>
          <a:prstGeom prst="rect">
            <a:avLst/>
          </a:prstGeom>
        </p:spPr>
      </p:pic>
      <p:pic>
        <p:nvPicPr>
          <p:cNvPr id="5" name="!!log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1600200" cy="294198"/>
          </a:xfrm>
          <a:prstGeom prst="rect">
            <a:avLst/>
          </a:prstGeom>
        </p:spPr>
      </p:pic>
      <p:sp>
        <p:nvSpPr>
          <p:cNvPr id="6" name="!!c12_0"/>
          <p:cNvSpPr txBox="1"/>
          <p:nvPr/>
        </p:nvSpPr>
        <p:spPr>
          <a:xfrm>
            <a:off x="548640" y="1097280"/>
            <a:ext cx="109728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sporbarhet</a:t>
            </a:r>
            <a:endParaRPr lang="en-US" sz="4000" dirty="0"/>
          </a:p>
        </p:txBody>
      </p:sp>
      <p:sp>
        <p:nvSpPr>
          <p:cNvPr id="7" name="!!c12_1"/>
          <p:cNvSpPr/>
          <p:nvPr/>
        </p:nvSpPr>
        <p:spPr>
          <a:xfrm>
            <a:off x="548640" y="2084832"/>
            <a:ext cx="3648456" cy="2362581"/>
          </a:xfrm>
          <a:prstGeom prst="roundRect">
            <a:avLst>
              <a:gd name="adj" fmla="val 6193"/>
            </a:avLst>
          </a:prstGeom>
          <a:solidFill>
            <a:srgbClr val="0B0B0C"/>
          </a:solidFill>
          <a:ln w="15875">
            <a:solidFill>
              <a:srgbClr val="34343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60000"/>
              </a:srgbClr>
            </a:outerShdw>
          </a:effectLst>
        </p:spPr>
      </p:sp>
      <p:pic>
        <p:nvPicPr>
          <p:cNvPr id="8" name="!!c12_2" descr="/tmp/deck/a/17-admin-orders-desk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194560"/>
            <a:ext cx="3429000" cy="2143125"/>
          </a:xfrm>
          <a:prstGeom prst="rect">
            <a:avLst/>
          </a:prstGeom>
        </p:spPr>
      </p:pic>
      <p:sp>
        <p:nvSpPr>
          <p:cNvPr id="9" name="!!c12_3"/>
          <p:cNvSpPr txBox="1"/>
          <p:nvPr/>
        </p:nvSpPr>
        <p:spPr>
          <a:xfrm>
            <a:off x="548640" y="4657725"/>
            <a:ext cx="3648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Bestillinger og mottak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Innkjøp og delvise leveranser</a:t>
            </a:r>
            <a:endParaRPr lang="en-US" sz="2000" dirty="0"/>
          </a:p>
        </p:txBody>
      </p:sp>
      <p:sp>
        <p:nvSpPr>
          <p:cNvPr id="10" name="!!c12_4"/>
          <p:cNvSpPr/>
          <p:nvPr/>
        </p:nvSpPr>
        <p:spPr>
          <a:xfrm>
            <a:off x="4261104" y="2084832"/>
            <a:ext cx="3648456" cy="2362581"/>
          </a:xfrm>
          <a:prstGeom prst="roundRect">
            <a:avLst>
              <a:gd name="adj" fmla="val 6193"/>
            </a:avLst>
          </a:prstGeom>
          <a:solidFill>
            <a:srgbClr val="0B0B0C"/>
          </a:solidFill>
          <a:ln w="15875">
            <a:solidFill>
              <a:srgbClr val="34343A"/>
            </a:solidFill>
            <a:prstDash val="solid"/>
          </a:ln>
        </p:spPr>
      </p:sp>
      <p:pic>
        <p:nvPicPr>
          <p:cNvPr id="11" name="!!c12_5" descr="/tmp/deck/a/18-admin-audit-deskto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2194560"/>
            <a:ext cx="3429000" cy="2143125"/>
          </a:xfrm>
          <a:prstGeom prst="rect">
            <a:avLst/>
          </a:prstGeom>
        </p:spPr>
      </p:pic>
      <p:sp>
        <p:nvSpPr>
          <p:cNvPr id="12" name="!!c12_6"/>
          <p:cNvSpPr txBox="1"/>
          <p:nvPr/>
        </p:nvSpPr>
        <p:spPr>
          <a:xfrm>
            <a:off x="4261104" y="4657725"/>
            <a:ext cx="3648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Endringslogg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Hvem gjorde hva, og når</a:t>
            </a:r>
            <a:endParaRPr lang="en-US" sz="2000" dirty="0"/>
          </a:p>
        </p:txBody>
      </p:sp>
      <p:sp>
        <p:nvSpPr>
          <p:cNvPr id="13" name="!!c12_7"/>
          <p:cNvSpPr/>
          <p:nvPr/>
        </p:nvSpPr>
        <p:spPr>
          <a:xfrm>
            <a:off x="7973568" y="2084832"/>
            <a:ext cx="3648456" cy="2362581"/>
          </a:xfrm>
          <a:prstGeom prst="roundRect">
            <a:avLst>
              <a:gd name="adj" fmla="val 6193"/>
            </a:avLst>
          </a:prstGeom>
          <a:solidFill>
            <a:srgbClr val="0B0B0C"/>
          </a:solidFill>
          <a:ln w="15875">
            <a:solidFill>
              <a:srgbClr val="34343A"/>
            </a:solidFill>
            <a:prstDash val="solid"/>
          </a:ln>
        </p:spPr>
      </p:sp>
      <p:pic>
        <p:nvPicPr>
          <p:cNvPr id="14" name="!!c12_8" descr="/tmp/deck/a/19-admin-admins-deskto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3296" y="2194560"/>
            <a:ext cx="3429000" cy="2143125"/>
          </a:xfrm>
          <a:prstGeom prst="rect">
            <a:avLst/>
          </a:prstGeom>
        </p:spPr>
      </p:pic>
      <p:sp>
        <p:nvSpPr>
          <p:cNvPr id="15" name="!!c12_9"/>
          <p:cNvSpPr txBox="1"/>
          <p:nvPr/>
        </p:nvSpPr>
        <p:spPr>
          <a:xfrm>
            <a:off x="7973568" y="4657725"/>
            <a:ext cx="3648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Administratorer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Inviter og fjern frivillige</a:t>
            </a:r>
            <a:endParaRPr lang="en-US" sz="2000" dirty="0"/>
          </a:p>
        </p:txBody>
      </p:sp>
      <p:sp>
        <p:nvSpPr>
          <p:cNvPr id="16" name="!!c11_0"/>
          <p:cNvSpPr txBox="1"/>
          <p:nvPr/>
        </p:nvSpPr>
        <p:spPr>
          <a:xfrm>
            <a:off x="548640" y="-17373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Etiketter på A4-ark eller fra skriveren</a:t>
            </a:r>
            <a:endParaRPr lang="en-US" sz="3600" dirty="0"/>
          </a:p>
        </p:txBody>
      </p:sp>
      <p:sp>
        <p:nvSpPr>
          <p:cNvPr id="17" name="!!c11_1"/>
          <p:cNvSpPr/>
          <p:nvPr/>
        </p:nvSpPr>
        <p:spPr>
          <a:xfrm>
            <a:off x="667512" y="7406640"/>
            <a:ext cx="5065776" cy="3248406"/>
          </a:xfrm>
          <a:prstGeom prst="roundRect">
            <a:avLst>
              <a:gd name="adj" fmla="val 4504"/>
            </a:avLst>
          </a:prstGeom>
          <a:solidFill>
            <a:srgbClr val="0B0B0C"/>
          </a:solidFill>
          <a:ln w="15875">
            <a:solidFill>
              <a:srgbClr val="34343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60000"/>
              </a:srgbClr>
            </a:outerShdw>
          </a:effectLst>
        </p:spPr>
      </p:sp>
      <p:pic>
        <p:nvPicPr>
          <p:cNvPr id="18" name="!!c11_2" descr="/tmp/deck/a/20-admin-labels-preview-deskto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7516368"/>
            <a:ext cx="4846320" cy="3028950"/>
          </a:xfrm>
          <a:prstGeom prst="rect">
            <a:avLst/>
          </a:prstGeom>
        </p:spPr>
      </p:pic>
      <p:sp>
        <p:nvSpPr>
          <p:cNvPr id="19" name="!!c11_3"/>
          <p:cNvSpPr/>
          <p:nvPr/>
        </p:nvSpPr>
        <p:spPr>
          <a:xfrm>
            <a:off x="411480" y="10655046"/>
            <a:ext cx="5577840" cy="155448"/>
          </a:xfrm>
          <a:prstGeom prst="roundRect">
            <a:avLst>
              <a:gd name="adj" fmla="val 47059"/>
            </a:avLst>
          </a:prstGeom>
          <a:solidFill>
            <a:srgbClr val="1C1C20"/>
          </a:solidFill>
          <a:ln w="12700">
            <a:solidFill>
              <a:srgbClr val="34343A"/>
            </a:solidFill>
            <a:prstDash val="solid"/>
          </a:ln>
        </p:spPr>
      </p:sp>
      <p:pic>
        <p:nvPicPr>
          <p:cNvPr id="20" name="!!c11_4" descr="/tmp/deck/a/led-4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235722" y="5559552"/>
            <a:ext cx="687082" cy="548640"/>
          </a:xfrm>
          <a:prstGeom prst="rect">
            <a:avLst/>
          </a:prstGeom>
        </p:spPr>
      </p:pic>
      <p:sp>
        <p:nvSpPr>
          <p:cNvPr id="21" name="!!c11_5"/>
          <p:cNvSpPr txBox="1"/>
          <p:nvPr/>
        </p:nvSpPr>
        <p:spPr>
          <a:xfrm>
            <a:off x="-4754880" y="5669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etiketter på 3 A4-ark fra kabinett A1</a:t>
            </a:r>
            <a:endParaRPr lang="en-US" sz="1600" dirty="0"/>
          </a:p>
        </p:txBody>
      </p:sp>
      <p:pic>
        <p:nvPicPr>
          <p:cNvPr id="22" name="!!c11_6" descr="/tmp/deck/a/print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40335" y="2514600"/>
            <a:ext cx="4114800" cy="2474441"/>
          </a:xfrm>
          <a:prstGeom prst="rect">
            <a:avLst/>
          </a:prstGeom>
        </p:spPr>
      </p:pic>
      <p:pic>
        <p:nvPicPr>
          <p:cNvPr id="23" name="!!c11_7" descr="/tmp/deck/a/tape-labe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300000">
            <a:off x="5989320" y="7406640"/>
            <a:ext cx="1691640" cy="1896687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60000"/>
              </a:srgbClr>
            </a:outerShdw>
          </a:effectLst>
        </p:spPr>
      </p:pic>
      <p:sp>
        <p:nvSpPr>
          <p:cNvPr id="24" name="!!c11_8"/>
          <p:cNvSpPr txBox="1"/>
          <p:nvPr/>
        </p:nvSpPr>
        <p:spPr>
          <a:xfrm>
            <a:off x="5989320" y="74066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 PT-P700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 etikett om gangen, rett fra produktsiden</a:t>
            </a:r>
            <a:endParaRPr lang="en-US" sz="1800" dirty="0"/>
          </a:p>
        </p:txBody>
      </p:sp>
      <p:sp>
        <p:nvSpPr>
          <p:cNvPr id="25" name="!!c13_0"/>
          <p:cNvSpPr txBox="1"/>
          <p:nvPr/>
        </p:nvSpPr>
        <p:spPr>
          <a:xfrm>
            <a:off x="548640" y="-1869440"/>
            <a:ext cx="109728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Testet, og laget for å overleveres</a:t>
            </a:r>
            <a:endParaRPr lang="en-US" sz="4000" dirty="0"/>
          </a:p>
        </p:txBody>
      </p:sp>
      <p:pic>
        <p:nvPicPr>
          <p:cNvPr id="26" name="!!c13_1" descr="/tmp/deck/a/led-22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3221764" y="2331720"/>
            <a:ext cx="2673124" cy="1463040"/>
          </a:xfrm>
          <a:prstGeom prst="rect">
            <a:avLst/>
          </a:prstGeom>
        </p:spPr>
      </p:pic>
      <p:sp>
        <p:nvSpPr>
          <p:cNvPr id="27" name="!!c13_2"/>
          <p:cNvSpPr txBox="1"/>
          <p:nvPr/>
        </p:nvSpPr>
        <p:spPr>
          <a:xfrm>
            <a:off x="-4206240" y="3931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automatiske tester</a:t>
            </a:r>
            <a:endParaRPr lang="en-US" sz="1800" dirty="0"/>
          </a:p>
        </p:txBody>
      </p:sp>
      <p:sp>
        <p:nvSpPr>
          <p:cNvPr id="28" name="!!c13_3"/>
          <p:cNvSpPr/>
          <p:nvPr/>
        </p:nvSpPr>
        <p:spPr>
          <a:xfrm>
            <a:off x="5120640" y="-1280160"/>
            <a:ext cx="731520" cy="731520"/>
          </a:xfrm>
          <a:prstGeom prst="ellipse">
            <a:avLst/>
          </a:prstGeom>
          <a:solidFill>
            <a:srgbClr val="37D964">
              <a:alpha val="15000"/>
            </a:srgbClr>
          </a:solidFill>
          <a:ln w="12700">
            <a:solidFill>
              <a:srgbClr val="37D964"/>
            </a:solidFill>
            <a:prstDash val="solid"/>
          </a:ln>
        </p:spPr>
      </p:sp>
      <p:pic>
        <p:nvPicPr>
          <p:cNvPr id="29" name="!!c13_4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94376" y="-1106424"/>
            <a:ext cx="384048" cy="384048"/>
          </a:xfrm>
          <a:prstGeom prst="rect">
            <a:avLst/>
          </a:prstGeom>
        </p:spPr>
      </p:pic>
      <p:sp>
        <p:nvSpPr>
          <p:cNvPr id="30" name="!!c13_5"/>
          <p:cNvSpPr txBox="1"/>
          <p:nvPr/>
        </p:nvSpPr>
        <p:spPr>
          <a:xfrm>
            <a:off x="6080760" y="-13716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Databasen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Sjekkes automatisk ved hver endring</a:t>
            </a:r>
            <a:endParaRPr lang="en-US" sz="2000" dirty="0"/>
          </a:p>
        </p:txBody>
      </p:sp>
      <p:sp>
        <p:nvSpPr>
          <p:cNvPr id="31" name="!!c13_6"/>
          <p:cNvSpPr/>
          <p:nvPr/>
        </p:nvSpPr>
        <p:spPr>
          <a:xfrm>
            <a:off x="5120640" y="7406640"/>
            <a:ext cx="731520" cy="731520"/>
          </a:xfrm>
          <a:prstGeom prst="ellipse">
            <a:avLst/>
          </a:prstGeom>
          <a:solidFill>
            <a:srgbClr val="37D964">
              <a:alpha val="15000"/>
            </a:srgbClr>
          </a:solidFill>
          <a:ln w="12700">
            <a:solidFill>
              <a:srgbClr val="37D964"/>
            </a:solidFill>
            <a:prstDash val="solid"/>
          </a:ln>
        </p:spPr>
      </p:sp>
      <p:pic>
        <p:nvPicPr>
          <p:cNvPr id="32" name="!!c13_7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94376" y="7580376"/>
            <a:ext cx="384048" cy="384048"/>
          </a:xfrm>
          <a:prstGeom prst="rect">
            <a:avLst/>
          </a:prstGeom>
        </p:spPr>
      </p:pic>
      <p:sp>
        <p:nvSpPr>
          <p:cNvPr id="33" name="!!c13_8"/>
          <p:cNvSpPr txBox="1"/>
          <p:nvPr/>
        </p:nvSpPr>
        <p:spPr>
          <a:xfrm>
            <a:off x="6080760" y="7406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Hele nettsiden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Butikk, kasse, admin, skanner og etiketter testes i nettleseren</a:t>
            </a:r>
            <a:endParaRPr lang="en-US" sz="2000" dirty="0"/>
          </a:p>
        </p:txBody>
      </p:sp>
      <p:sp>
        <p:nvSpPr>
          <p:cNvPr id="34" name="!!c13_9"/>
          <p:cNvSpPr/>
          <p:nvPr/>
        </p:nvSpPr>
        <p:spPr>
          <a:xfrm>
            <a:off x="5120640" y="7406640"/>
            <a:ext cx="731520" cy="731520"/>
          </a:xfrm>
          <a:prstGeom prst="ellipse">
            <a:avLst/>
          </a:prstGeom>
          <a:solidFill>
            <a:srgbClr val="37D964">
              <a:alpha val="15000"/>
            </a:srgbClr>
          </a:solidFill>
          <a:ln w="12700">
            <a:solidFill>
              <a:srgbClr val="37D964"/>
            </a:solidFill>
            <a:prstDash val="solid"/>
          </a:ln>
        </p:spPr>
      </p:sp>
      <p:pic>
        <p:nvPicPr>
          <p:cNvPr id="35" name="!!c13_10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94376" y="7580376"/>
            <a:ext cx="384048" cy="384048"/>
          </a:xfrm>
          <a:prstGeom prst="rect">
            <a:avLst/>
          </a:prstGeom>
        </p:spPr>
      </p:pic>
      <p:sp>
        <p:nvSpPr>
          <p:cNvPr id="36" name="!!c13_11"/>
          <p:cNvSpPr txBox="1"/>
          <p:nvPr/>
        </p:nvSpPr>
        <p:spPr>
          <a:xfrm>
            <a:off x="6080760" y="7406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Dokumentert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års studenter kan drive og utvide den uten meg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orbG" descr="/tmp/deck/a/orb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0" y="1097280"/>
            <a:ext cx="7315200" cy="7315200"/>
          </a:xfrm>
          <a:prstGeom prst="rect">
            <a:avLst/>
          </a:prstGeom>
        </p:spPr>
      </p:pic>
      <p:pic>
        <p:nvPicPr>
          <p:cNvPr id="4" name="!!log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1600200" cy="294198"/>
          </a:xfrm>
          <a:prstGeom prst="rect">
            <a:avLst/>
          </a:prstGeom>
        </p:spPr>
      </p:pic>
      <p:sp>
        <p:nvSpPr>
          <p:cNvPr id="5" name="!!c13_0"/>
          <p:cNvSpPr txBox="1"/>
          <p:nvPr/>
        </p:nvSpPr>
        <p:spPr>
          <a:xfrm>
            <a:off x="548640" y="1097280"/>
            <a:ext cx="109728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Testet, og laget for å overleveres</a:t>
            </a:r>
            <a:endParaRPr lang="en-US" sz="4000" dirty="0"/>
          </a:p>
        </p:txBody>
      </p:sp>
      <p:pic>
        <p:nvPicPr>
          <p:cNvPr id="6" name="!!c13_1" descr="/tmp/deck/a/led-22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31720"/>
            <a:ext cx="2673124" cy="1463040"/>
          </a:xfrm>
          <a:prstGeom prst="rect">
            <a:avLst/>
          </a:prstGeom>
        </p:spPr>
      </p:pic>
      <p:sp>
        <p:nvSpPr>
          <p:cNvPr id="7" name="!!c13_2"/>
          <p:cNvSpPr txBox="1"/>
          <p:nvPr/>
        </p:nvSpPr>
        <p:spPr>
          <a:xfrm>
            <a:off x="548640" y="3931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automatiske tester</a:t>
            </a:r>
            <a:endParaRPr lang="en-US" sz="1800" dirty="0"/>
          </a:p>
        </p:txBody>
      </p:sp>
      <p:sp>
        <p:nvSpPr>
          <p:cNvPr id="8" name="!!c13_3"/>
          <p:cNvSpPr/>
          <p:nvPr/>
        </p:nvSpPr>
        <p:spPr>
          <a:xfrm>
            <a:off x="5120640" y="2331720"/>
            <a:ext cx="731520" cy="731520"/>
          </a:xfrm>
          <a:prstGeom prst="ellipse">
            <a:avLst/>
          </a:prstGeom>
          <a:solidFill>
            <a:srgbClr val="37D964">
              <a:alpha val="15000"/>
            </a:srgbClr>
          </a:solidFill>
          <a:ln w="12700">
            <a:solidFill>
              <a:srgbClr val="37D964"/>
            </a:solidFill>
            <a:prstDash val="solid"/>
          </a:ln>
        </p:spPr>
      </p:sp>
      <p:pic>
        <p:nvPicPr>
          <p:cNvPr id="9" name="!!c13_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4376" y="2505456"/>
            <a:ext cx="384048" cy="384048"/>
          </a:xfrm>
          <a:prstGeom prst="rect">
            <a:avLst/>
          </a:prstGeom>
        </p:spPr>
      </p:pic>
      <p:sp>
        <p:nvSpPr>
          <p:cNvPr id="10" name="!!c13_5"/>
          <p:cNvSpPr txBox="1"/>
          <p:nvPr/>
        </p:nvSpPr>
        <p:spPr>
          <a:xfrm>
            <a:off x="6080760" y="2286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Databasen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Sjekkes automatisk ved hver endring</a:t>
            </a:r>
            <a:endParaRPr lang="en-US" sz="2000" dirty="0"/>
          </a:p>
        </p:txBody>
      </p:sp>
      <p:sp>
        <p:nvSpPr>
          <p:cNvPr id="11" name="!!c13_6"/>
          <p:cNvSpPr/>
          <p:nvPr/>
        </p:nvSpPr>
        <p:spPr>
          <a:xfrm>
            <a:off x="5120640" y="3538728"/>
            <a:ext cx="731520" cy="731520"/>
          </a:xfrm>
          <a:prstGeom prst="ellipse">
            <a:avLst/>
          </a:prstGeom>
          <a:solidFill>
            <a:srgbClr val="37D964">
              <a:alpha val="15000"/>
            </a:srgbClr>
          </a:solidFill>
          <a:ln w="12700">
            <a:solidFill>
              <a:srgbClr val="37D964"/>
            </a:solidFill>
            <a:prstDash val="solid"/>
          </a:ln>
        </p:spPr>
      </p:sp>
      <p:pic>
        <p:nvPicPr>
          <p:cNvPr id="12" name="!!c13_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4376" y="3712464"/>
            <a:ext cx="384048" cy="384048"/>
          </a:xfrm>
          <a:prstGeom prst="rect">
            <a:avLst/>
          </a:prstGeom>
        </p:spPr>
      </p:pic>
      <p:sp>
        <p:nvSpPr>
          <p:cNvPr id="13" name="!!c13_8"/>
          <p:cNvSpPr txBox="1"/>
          <p:nvPr/>
        </p:nvSpPr>
        <p:spPr>
          <a:xfrm>
            <a:off x="6080760" y="349300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Hele nettsiden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Butikk, kasse, admin, skanner og etiketter testes i nettleseren</a:t>
            </a:r>
            <a:endParaRPr lang="en-US" sz="2000" dirty="0"/>
          </a:p>
        </p:txBody>
      </p:sp>
      <p:sp>
        <p:nvSpPr>
          <p:cNvPr id="14" name="!!c13_9"/>
          <p:cNvSpPr/>
          <p:nvPr/>
        </p:nvSpPr>
        <p:spPr>
          <a:xfrm>
            <a:off x="5120640" y="4745736"/>
            <a:ext cx="731520" cy="731520"/>
          </a:xfrm>
          <a:prstGeom prst="ellipse">
            <a:avLst/>
          </a:prstGeom>
          <a:solidFill>
            <a:srgbClr val="37D964">
              <a:alpha val="15000"/>
            </a:srgbClr>
          </a:solidFill>
          <a:ln w="12700">
            <a:solidFill>
              <a:srgbClr val="37D964"/>
            </a:solidFill>
            <a:prstDash val="solid"/>
          </a:ln>
        </p:spPr>
      </p:sp>
      <p:pic>
        <p:nvPicPr>
          <p:cNvPr id="15" name="!!c13_1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4376" y="4919472"/>
            <a:ext cx="384048" cy="384048"/>
          </a:xfrm>
          <a:prstGeom prst="rect">
            <a:avLst/>
          </a:prstGeom>
        </p:spPr>
      </p:pic>
      <p:sp>
        <p:nvSpPr>
          <p:cNvPr id="16" name="!!c13_11"/>
          <p:cNvSpPr txBox="1"/>
          <p:nvPr/>
        </p:nvSpPr>
        <p:spPr>
          <a:xfrm>
            <a:off x="6080760" y="4700016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Dokumentert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års studenter kan drive og utvide den uten meg</a:t>
            </a:r>
            <a:endParaRPr lang="en-US" sz="2000" dirty="0"/>
          </a:p>
        </p:txBody>
      </p:sp>
      <p:sp>
        <p:nvSpPr>
          <p:cNvPr id="17" name="!!c12_0"/>
          <p:cNvSpPr txBox="1"/>
          <p:nvPr/>
        </p:nvSpPr>
        <p:spPr>
          <a:xfrm>
            <a:off x="548640" y="-1869440"/>
            <a:ext cx="109728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sporbarhet</a:t>
            </a:r>
            <a:endParaRPr lang="en-US" sz="4000" dirty="0"/>
          </a:p>
        </p:txBody>
      </p:sp>
      <p:sp>
        <p:nvSpPr>
          <p:cNvPr id="18" name="!!c12_1"/>
          <p:cNvSpPr/>
          <p:nvPr/>
        </p:nvSpPr>
        <p:spPr>
          <a:xfrm>
            <a:off x="-4197096" y="2084832"/>
            <a:ext cx="3648456" cy="2362581"/>
          </a:xfrm>
          <a:prstGeom prst="roundRect">
            <a:avLst>
              <a:gd name="adj" fmla="val 6193"/>
            </a:avLst>
          </a:prstGeom>
          <a:solidFill>
            <a:srgbClr val="0B0B0C"/>
          </a:solidFill>
          <a:ln w="15875">
            <a:solidFill>
              <a:srgbClr val="34343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60000"/>
              </a:srgbClr>
            </a:outerShdw>
          </a:effectLst>
        </p:spPr>
      </p:sp>
      <p:pic>
        <p:nvPicPr>
          <p:cNvPr id="19" name="!!c12_2" descr="/tmp/deck/a/17-admin-orders-deskto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087368" y="2194560"/>
            <a:ext cx="3429000" cy="2143125"/>
          </a:xfrm>
          <a:prstGeom prst="rect">
            <a:avLst/>
          </a:prstGeom>
        </p:spPr>
      </p:pic>
      <p:sp>
        <p:nvSpPr>
          <p:cNvPr id="20" name="!!c12_3"/>
          <p:cNvSpPr txBox="1"/>
          <p:nvPr/>
        </p:nvSpPr>
        <p:spPr>
          <a:xfrm>
            <a:off x="548640" y="7406640"/>
            <a:ext cx="3648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Bestillinger og mottak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Innkjøp og delvise leveranser</a:t>
            </a:r>
            <a:endParaRPr lang="en-US" sz="2000" dirty="0"/>
          </a:p>
        </p:txBody>
      </p:sp>
      <p:sp>
        <p:nvSpPr>
          <p:cNvPr id="21" name="!!c12_4"/>
          <p:cNvSpPr/>
          <p:nvPr/>
        </p:nvSpPr>
        <p:spPr>
          <a:xfrm>
            <a:off x="4261104" y="-2911221"/>
            <a:ext cx="3648456" cy="2362581"/>
          </a:xfrm>
          <a:prstGeom prst="roundRect">
            <a:avLst>
              <a:gd name="adj" fmla="val 6193"/>
            </a:avLst>
          </a:prstGeom>
          <a:solidFill>
            <a:srgbClr val="0B0B0C"/>
          </a:solidFill>
          <a:ln w="15875">
            <a:solidFill>
              <a:srgbClr val="34343A"/>
            </a:solidFill>
            <a:prstDash val="solid"/>
          </a:ln>
        </p:spPr>
      </p:sp>
      <p:pic>
        <p:nvPicPr>
          <p:cNvPr id="22" name="!!c12_5" descr="/tmp/deck/a/18-admin-audit-deskto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0832" y="-2801493"/>
            <a:ext cx="3429000" cy="2143125"/>
          </a:xfrm>
          <a:prstGeom prst="rect">
            <a:avLst/>
          </a:prstGeom>
        </p:spPr>
      </p:pic>
      <p:sp>
        <p:nvSpPr>
          <p:cNvPr id="23" name="!!c12_6"/>
          <p:cNvSpPr txBox="1"/>
          <p:nvPr/>
        </p:nvSpPr>
        <p:spPr>
          <a:xfrm>
            <a:off x="4261104" y="7406640"/>
            <a:ext cx="3648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Endringslogg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Hvem gjorde hva, og når</a:t>
            </a:r>
            <a:endParaRPr lang="en-US" sz="2000" dirty="0"/>
          </a:p>
        </p:txBody>
      </p:sp>
      <p:sp>
        <p:nvSpPr>
          <p:cNvPr id="24" name="!!c12_7"/>
          <p:cNvSpPr/>
          <p:nvPr/>
        </p:nvSpPr>
        <p:spPr>
          <a:xfrm>
            <a:off x="12740335" y="2084832"/>
            <a:ext cx="3648456" cy="2362581"/>
          </a:xfrm>
          <a:prstGeom prst="roundRect">
            <a:avLst>
              <a:gd name="adj" fmla="val 6193"/>
            </a:avLst>
          </a:prstGeom>
          <a:solidFill>
            <a:srgbClr val="0B0B0C"/>
          </a:solidFill>
          <a:ln w="15875">
            <a:solidFill>
              <a:srgbClr val="34343A"/>
            </a:solidFill>
            <a:prstDash val="solid"/>
          </a:ln>
        </p:spPr>
      </p:sp>
      <p:pic>
        <p:nvPicPr>
          <p:cNvPr id="25" name="!!c12_8" descr="/tmp/deck/a/19-admin-admins-desktop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50063" y="2194560"/>
            <a:ext cx="3429000" cy="2143125"/>
          </a:xfrm>
          <a:prstGeom prst="rect">
            <a:avLst/>
          </a:prstGeom>
        </p:spPr>
      </p:pic>
      <p:sp>
        <p:nvSpPr>
          <p:cNvPr id="26" name="!!c12_9"/>
          <p:cNvSpPr txBox="1"/>
          <p:nvPr/>
        </p:nvSpPr>
        <p:spPr>
          <a:xfrm>
            <a:off x="7973568" y="7406640"/>
            <a:ext cx="3648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Administratorer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Inviter og fjern frivillige</a:t>
            </a:r>
            <a:endParaRPr lang="en-US" sz="2000" dirty="0"/>
          </a:p>
        </p:txBody>
      </p:sp>
      <p:sp>
        <p:nvSpPr>
          <p:cNvPr id="27" name="!!c14_0"/>
          <p:cNvSpPr txBox="1"/>
          <p:nvPr/>
        </p:nvSpPr>
        <p:spPr>
          <a:xfrm>
            <a:off x="548640" y="-17373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Før lansering trenger jeg fra dere</a:t>
            </a:r>
            <a:endParaRPr lang="en-US" sz="3600" dirty="0"/>
          </a:p>
        </p:txBody>
      </p:sp>
      <p:sp>
        <p:nvSpPr>
          <p:cNvPr id="28" name="!!c14_1"/>
          <p:cNvSpPr/>
          <p:nvPr/>
        </p:nvSpPr>
        <p:spPr>
          <a:xfrm>
            <a:off x="548640" y="-2423160"/>
            <a:ext cx="5440680" cy="1874520"/>
          </a:xfrm>
          <a:prstGeom prst="roundRect">
            <a:avLst>
              <a:gd name="adj" fmla="val 6829"/>
            </a:avLst>
          </a:prstGeom>
          <a:solidFill>
            <a:srgbClr val="0F0F11"/>
          </a:solidFill>
          <a:ln w="12700">
            <a:solidFill>
              <a:srgbClr val="2A2A2D"/>
            </a:solidFill>
            <a:prstDash val="solid"/>
          </a:ln>
        </p:spPr>
      </p:sp>
      <p:pic>
        <p:nvPicPr>
          <p:cNvPr id="29" name="!!c14_2" descr="/tmp/deck/a/led-g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-1965960"/>
            <a:ext cx="713232" cy="960120"/>
          </a:xfrm>
          <a:prstGeom prst="rect">
            <a:avLst/>
          </a:prstGeom>
        </p:spPr>
      </p:pic>
      <p:sp>
        <p:nvSpPr>
          <p:cNvPr id="30" name="!!c14_3"/>
          <p:cNvSpPr txBox="1"/>
          <p:nvPr/>
        </p:nvSpPr>
        <p:spPr>
          <a:xfrm>
            <a:off x="1920240" y="-214884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Klarsignal</a:t>
            </a:r>
            <a:endParaRPr lang="en-US" sz="2400" dirty="0"/>
          </a:p>
          <a:p>
            <a:pPr indent="0" marL="0">
              <a:buNone/>
            </a:pPr>
            <a:r>
              <a:rPr lang="en-US" sz="17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 til å publisere på ampoteket.no</a:t>
            </a:r>
            <a:endParaRPr lang="en-US" sz="2400" dirty="0"/>
          </a:p>
        </p:txBody>
      </p:sp>
      <p:sp>
        <p:nvSpPr>
          <p:cNvPr id="31" name="!!c14_4"/>
          <p:cNvSpPr/>
          <p:nvPr/>
        </p:nvSpPr>
        <p:spPr>
          <a:xfrm>
            <a:off x="6190488" y="-2423160"/>
            <a:ext cx="5440680" cy="1874520"/>
          </a:xfrm>
          <a:prstGeom prst="roundRect">
            <a:avLst>
              <a:gd name="adj" fmla="val 6829"/>
            </a:avLst>
          </a:prstGeom>
          <a:solidFill>
            <a:srgbClr val="0F0F11"/>
          </a:solidFill>
          <a:ln w="12700">
            <a:solidFill>
              <a:srgbClr val="2A2A2D"/>
            </a:solidFill>
            <a:prstDash val="solid"/>
          </a:ln>
        </p:spPr>
      </p:sp>
      <p:pic>
        <p:nvPicPr>
          <p:cNvPr id="32" name="!!c14_5" descr="/tmp/deck/a/led-g2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6248" y="-1965960"/>
            <a:ext cx="713232" cy="960120"/>
          </a:xfrm>
          <a:prstGeom prst="rect">
            <a:avLst/>
          </a:prstGeom>
        </p:spPr>
      </p:pic>
      <p:sp>
        <p:nvSpPr>
          <p:cNvPr id="33" name="!!c14_6"/>
          <p:cNvSpPr txBox="1"/>
          <p:nvPr/>
        </p:nvSpPr>
        <p:spPr>
          <a:xfrm>
            <a:off x="7562088" y="-214884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Startlager</a:t>
            </a:r>
            <a:endParaRPr lang="en-US" sz="2400" dirty="0"/>
          </a:p>
          <a:p>
            <a:pPr indent="0" marL="0">
              <a:buNone/>
            </a:pPr>
            <a:r>
              <a:rPr lang="en-US" sz="17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Frivillige teller skuffene inn, med stikkprøver</a:t>
            </a:r>
            <a:endParaRPr lang="en-US" sz="2400" dirty="0"/>
          </a:p>
        </p:txBody>
      </p:sp>
      <p:sp>
        <p:nvSpPr>
          <p:cNvPr id="34" name="!!c14_7"/>
          <p:cNvSpPr/>
          <p:nvPr/>
        </p:nvSpPr>
        <p:spPr>
          <a:xfrm>
            <a:off x="548640" y="7406640"/>
            <a:ext cx="5440680" cy="1874520"/>
          </a:xfrm>
          <a:prstGeom prst="roundRect">
            <a:avLst>
              <a:gd name="adj" fmla="val 6829"/>
            </a:avLst>
          </a:prstGeom>
          <a:solidFill>
            <a:srgbClr val="0F0F11"/>
          </a:solidFill>
          <a:ln w="12700">
            <a:solidFill>
              <a:srgbClr val="2A2A2D"/>
            </a:solidFill>
            <a:prstDash val="solid"/>
          </a:ln>
        </p:spPr>
      </p:sp>
      <p:pic>
        <p:nvPicPr>
          <p:cNvPr id="35" name="!!c14_8" descr="/tmp/deck/a/led-g3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7863840"/>
            <a:ext cx="713232" cy="960120"/>
          </a:xfrm>
          <a:prstGeom prst="rect">
            <a:avLst/>
          </a:prstGeom>
        </p:spPr>
      </p:pic>
      <p:sp>
        <p:nvSpPr>
          <p:cNvPr id="36" name="!!c14_9"/>
          <p:cNvSpPr txBox="1"/>
          <p:nvPr/>
        </p:nvSpPr>
        <p:spPr>
          <a:xfrm>
            <a:off x="1920240" y="768096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Lapper på skuffene</a:t>
            </a:r>
            <a:endParaRPr lang="en-US" sz="2400" dirty="0"/>
          </a:p>
          <a:p>
            <a:pPr indent="0" marL="0">
              <a:buNone/>
            </a:pPr>
            <a:r>
              <a:rPr lang="en-US" sz="17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Testark, mål og skanning i verkstedlyset</a:t>
            </a:r>
            <a:endParaRPr lang="en-US" sz="2400" dirty="0"/>
          </a:p>
        </p:txBody>
      </p:sp>
      <p:sp>
        <p:nvSpPr>
          <p:cNvPr id="37" name="!!c14_10"/>
          <p:cNvSpPr/>
          <p:nvPr/>
        </p:nvSpPr>
        <p:spPr>
          <a:xfrm>
            <a:off x="6190488" y="7406640"/>
            <a:ext cx="5440680" cy="1874520"/>
          </a:xfrm>
          <a:prstGeom prst="roundRect">
            <a:avLst>
              <a:gd name="adj" fmla="val 6829"/>
            </a:avLst>
          </a:prstGeom>
          <a:solidFill>
            <a:srgbClr val="0F0F11"/>
          </a:solidFill>
          <a:ln w="12700">
            <a:solidFill>
              <a:srgbClr val="2A2A2D"/>
            </a:solidFill>
            <a:prstDash val="solid"/>
          </a:ln>
        </p:spPr>
      </p:sp>
      <p:pic>
        <p:nvPicPr>
          <p:cNvPr id="38" name="!!c14_11" descr="/tmp/deck/a/led-g4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6248" y="7863840"/>
            <a:ext cx="713232" cy="960120"/>
          </a:xfrm>
          <a:prstGeom prst="rect">
            <a:avLst/>
          </a:prstGeom>
        </p:spPr>
      </p:pic>
      <p:sp>
        <p:nvSpPr>
          <p:cNvPr id="39" name="!!c14_12"/>
          <p:cNvSpPr txBox="1"/>
          <p:nvPr/>
        </p:nvSpPr>
        <p:spPr>
          <a:xfrm>
            <a:off x="7562088" y="768096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Kontaktpersoner</a:t>
            </a:r>
            <a:endParaRPr lang="en-US" sz="2400" dirty="0"/>
          </a:p>
          <a:p>
            <a:pPr indent="0" marL="0">
              <a:buNone/>
            </a:pPr>
            <a:r>
              <a:rPr lang="en-US" sz="17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Navn og kontaktmåte til hjelpesiden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orbR" descr="/tmp/deck/a/orb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3200400"/>
            <a:ext cx="6400800" cy="6400800"/>
          </a:xfrm>
          <a:prstGeom prst="rect">
            <a:avLst/>
          </a:prstGeom>
        </p:spPr>
      </p:pic>
      <p:pic>
        <p:nvPicPr>
          <p:cNvPr id="4" name="!!orbG" descr="/tmp/deck/a/orb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00" y="-2743200"/>
            <a:ext cx="5486400" cy="5486400"/>
          </a:xfrm>
          <a:prstGeom prst="rect">
            <a:avLst/>
          </a:prstGeom>
        </p:spPr>
      </p:pic>
      <p:pic>
        <p:nvPicPr>
          <p:cNvPr id="5" name="!!log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1600200" cy="294198"/>
          </a:xfrm>
          <a:prstGeom prst="rect">
            <a:avLst/>
          </a:prstGeom>
        </p:spPr>
      </p:pic>
      <p:sp>
        <p:nvSpPr>
          <p:cNvPr id="6" name="!!c14_0"/>
          <p:cNvSpPr txBox="1"/>
          <p:nvPr/>
        </p:nvSpPr>
        <p:spPr>
          <a:xfrm>
            <a:off x="548640" y="10058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Før lansering trenger jeg fra dere</a:t>
            </a:r>
            <a:endParaRPr lang="en-US" sz="3600" dirty="0"/>
          </a:p>
        </p:txBody>
      </p:sp>
      <p:sp>
        <p:nvSpPr>
          <p:cNvPr id="7" name="!!c14_1"/>
          <p:cNvSpPr/>
          <p:nvPr/>
        </p:nvSpPr>
        <p:spPr>
          <a:xfrm>
            <a:off x="548640" y="1965960"/>
            <a:ext cx="5440680" cy="1874520"/>
          </a:xfrm>
          <a:prstGeom prst="roundRect">
            <a:avLst>
              <a:gd name="adj" fmla="val 6829"/>
            </a:avLst>
          </a:prstGeom>
          <a:solidFill>
            <a:srgbClr val="0F0F11"/>
          </a:solidFill>
          <a:ln w="12700">
            <a:solidFill>
              <a:srgbClr val="2A2A2D"/>
            </a:solidFill>
            <a:prstDash val="solid"/>
          </a:ln>
        </p:spPr>
      </p:sp>
      <p:pic>
        <p:nvPicPr>
          <p:cNvPr id="8" name="!!c14_2" descr="/tmp/deck/a/led-g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423160"/>
            <a:ext cx="713232" cy="960120"/>
          </a:xfrm>
          <a:prstGeom prst="rect">
            <a:avLst/>
          </a:prstGeom>
        </p:spPr>
      </p:pic>
      <p:sp>
        <p:nvSpPr>
          <p:cNvPr id="9" name="!!c14_3"/>
          <p:cNvSpPr txBox="1"/>
          <p:nvPr/>
        </p:nvSpPr>
        <p:spPr>
          <a:xfrm>
            <a:off x="1920240" y="224028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Klarsignal</a:t>
            </a:r>
            <a:endParaRPr lang="en-US" sz="2400" dirty="0"/>
          </a:p>
          <a:p>
            <a:pPr indent="0" marL="0">
              <a:buNone/>
            </a:pPr>
            <a:r>
              <a:rPr lang="en-US" sz="17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 til å publisere på ampoteket.no</a:t>
            </a:r>
            <a:endParaRPr lang="en-US" sz="2400" dirty="0"/>
          </a:p>
        </p:txBody>
      </p:sp>
      <p:sp>
        <p:nvSpPr>
          <p:cNvPr id="10" name="!!c14_4"/>
          <p:cNvSpPr/>
          <p:nvPr/>
        </p:nvSpPr>
        <p:spPr>
          <a:xfrm>
            <a:off x="6190488" y="1965960"/>
            <a:ext cx="5440680" cy="1874520"/>
          </a:xfrm>
          <a:prstGeom prst="roundRect">
            <a:avLst>
              <a:gd name="adj" fmla="val 6829"/>
            </a:avLst>
          </a:prstGeom>
          <a:solidFill>
            <a:srgbClr val="0F0F11"/>
          </a:solidFill>
          <a:ln w="12700">
            <a:solidFill>
              <a:srgbClr val="2A2A2D"/>
            </a:solidFill>
            <a:prstDash val="solid"/>
          </a:ln>
        </p:spPr>
      </p:sp>
      <p:pic>
        <p:nvPicPr>
          <p:cNvPr id="11" name="!!c14_5" descr="/tmp/deck/a/led-g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2423160"/>
            <a:ext cx="713232" cy="960120"/>
          </a:xfrm>
          <a:prstGeom prst="rect">
            <a:avLst/>
          </a:prstGeom>
        </p:spPr>
      </p:pic>
      <p:sp>
        <p:nvSpPr>
          <p:cNvPr id="12" name="!!c14_6"/>
          <p:cNvSpPr txBox="1"/>
          <p:nvPr/>
        </p:nvSpPr>
        <p:spPr>
          <a:xfrm>
            <a:off x="7562088" y="224028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Startlager</a:t>
            </a:r>
            <a:endParaRPr lang="en-US" sz="2400" dirty="0"/>
          </a:p>
          <a:p>
            <a:pPr indent="0" marL="0">
              <a:buNone/>
            </a:pPr>
            <a:r>
              <a:rPr lang="en-US" sz="17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Frivillige teller skuffene inn, med stikkprøver</a:t>
            </a:r>
            <a:endParaRPr lang="en-US" sz="2400" dirty="0"/>
          </a:p>
        </p:txBody>
      </p:sp>
      <p:sp>
        <p:nvSpPr>
          <p:cNvPr id="13" name="!!c14_7"/>
          <p:cNvSpPr/>
          <p:nvPr/>
        </p:nvSpPr>
        <p:spPr>
          <a:xfrm>
            <a:off x="548640" y="4069080"/>
            <a:ext cx="5440680" cy="1874520"/>
          </a:xfrm>
          <a:prstGeom prst="roundRect">
            <a:avLst>
              <a:gd name="adj" fmla="val 6829"/>
            </a:avLst>
          </a:prstGeom>
          <a:solidFill>
            <a:srgbClr val="0F0F11"/>
          </a:solidFill>
          <a:ln w="12700">
            <a:solidFill>
              <a:srgbClr val="2A2A2D"/>
            </a:solidFill>
            <a:prstDash val="solid"/>
          </a:ln>
        </p:spPr>
      </p:sp>
      <p:pic>
        <p:nvPicPr>
          <p:cNvPr id="14" name="!!c14_8" descr="/tmp/deck/a/led-g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526280"/>
            <a:ext cx="713232" cy="960120"/>
          </a:xfrm>
          <a:prstGeom prst="rect">
            <a:avLst/>
          </a:prstGeom>
        </p:spPr>
      </p:pic>
      <p:sp>
        <p:nvSpPr>
          <p:cNvPr id="15" name="!!c14_9"/>
          <p:cNvSpPr txBox="1"/>
          <p:nvPr/>
        </p:nvSpPr>
        <p:spPr>
          <a:xfrm>
            <a:off x="1920240" y="434340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Lapper på skuffene</a:t>
            </a:r>
            <a:endParaRPr lang="en-US" sz="2400" dirty="0"/>
          </a:p>
          <a:p>
            <a:pPr indent="0" marL="0">
              <a:buNone/>
            </a:pPr>
            <a:r>
              <a:rPr lang="en-US" sz="17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Testark, mål og skanning i verkstedlyset</a:t>
            </a:r>
            <a:endParaRPr lang="en-US" sz="2400" dirty="0"/>
          </a:p>
        </p:txBody>
      </p:sp>
      <p:sp>
        <p:nvSpPr>
          <p:cNvPr id="16" name="!!c14_10"/>
          <p:cNvSpPr/>
          <p:nvPr/>
        </p:nvSpPr>
        <p:spPr>
          <a:xfrm>
            <a:off x="6190488" y="4069080"/>
            <a:ext cx="5440680" cy="1874520"/>
          </a:xfrm>
          <a:prstGeom prst="roundRect">
            <a:avLst>
              <a:gd name="adj" fmla="val 6829"/>
            </a:avLst>
          </a:prstGeom>
          <a:solidFill>
            <a:srgbClr val="0F0F11"/>
          </a:solidFill>
          <a:ln w="12700">
            <a:solidFill>
              <a:srgbClr val="2A2A2D"/>
            </a:solidFill>
            <a:prstDash val="solid"/>
          </a:ln>
        </p:spPr>
      </p:sp>
      <p:pic>
        <p:nvPicPr>
          <p:cNvPr id="17" name="!!c14_11" descr="/tmp/deck/a/led-g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248" y="4526280"/>
            <a:ext cx="713232" cy="960120"/>
          </a:xfrm>
          <a:prstGeom prst="rect">
            <a:avLst/>
          </a:prstGeom>
        </p:spPr>
      </p:pic>
      <p:sp>
        <p:nvSpPr>
          <p:cNvPr id="18" name="!!c14_12"/>
          <p:cNvSpPr txBox="1"/>
          <p:nvPr/>
        </p:nvSpPr>
        <p:spPr>
          <a:xfrm>
            <a:off x="7562088" y="434340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Kontaktpersoner</a:t>
            </a:r>
            <a:endParaRPr lang="en-US" sz="2400" dirty="0"/>
          </a:p>
          <a:p>
            <a:pPr indent="0" marL="0">
              <a:buNone/>
            </a:pPr>
            <a:r>
              <a:rPr lang="en-US" sz="17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Navn og kontaktmåte til hjelpesiden</a:t>
            </a:r>
            <a:endParaRPr lang="en-US" sz="2400" dirty="0"/>
          </a:p>
        </p:txBody>
      </p:sp>
      <p:sp>
        <p:nvSpPr>
          <p:cNvPr id="19" name="!!c13_0"/>
          <p:cNvSpPr txBox="1"/>
          <p:nvPr/>
        </p:nvSpPr>
        <p:spPr>
          <a:xfrm>
            <a:off x="548640" y="-1869440"/>
            <a:ext cx="109728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Testet, og laget for å overleveres</a:t>
            </a:r>
            <a:endParaRPr lang="en-US" sz="4000" dirty="0"/>
          </a:p>
        </p:txBody>
      </p:sp>
      <p:pic>
        <p:nvPicPr>
          <p:cNvPr id="20" name="!!c13_1" descr="/tmp/deck/a/led-22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3221764" y="2331720"/>
            <a:ext cx="2673124" cy="1463040"/>
          </a:xfrm>
          <a:prstGeom prst="rect">
            <a:avLst/>
          </a:prstGeom>
        </p:spPr>
      </p:pic>
      <p:sp>
        <p:nvSpPr>
          <p:cNvPr id="21" name="!!c13_2"/>
          <p:cNvSpPr txBox="1"/>
          <p:nvPr/>
        </p:nvSpPr>
        <p:spPr>
          <a:xfrm>
            <a:off x="-4206240" y="3931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automatiske tester</a:t>
            </a:r>
            <a:endParaRPr lang="en-US" sz="1800" dirty="0"/>
          </a:p>
        </p:txBody>
      </p:sp>
      <p:sp>
        <p:nvSpPr>
          <p:cNvPr id="22" name="!!c13_3"/>
          <p:cNvSpPr/>
          <p:nvPr/>
        </p:nvSpPr>
        <p:spPr>
          <a:xfrm>
            <a:off x="5120640" y="-1280160"/>
            <a:ext cx="731520" cy="731520"/>
          </a:xfrm>
          <a:prstGeom prst="ellipse">
            <a:avLst/>
          </a:prstGeom>
          <a:solidFill>
            <a:srgbClr val="37D964">
              <a:alpha val="15000"/>
            </a:srgbClr>
          </a:solidFill>
          <a:ln w="12700">
            <a:solidFill>
              <a:srgbClr val="37D964"/>
            </a:solidFill>
            <a:prstDash val="solid"/>
          </a:ln>
        </p:spPr>
      </p:sp>
      <p:pic>
        <p:nvPicPr>
          <p:cNvPr id="23" name="!!c13_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4376" y="-1106424"/>
            <a:ext cx="384048" cy="384048"/>
          </a:xfrm>
          <a:prstGeom prst="rect">
            <a:avLst/>
          </a:prstGeom>
        </p:spPr>
      </p:pic>
      <p:sp>
        <p:nvSpPr>
          <p:cNvPr id="24" name="!!c13_5"/>
          <p:cNvSpPr txBox="1"/>
          <p:nvPr/>
        </p:nvSpPr>
        <p:spPr>
          <a:xfrm>
            <a:off x="6080760" y="-13716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Databasen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Sjekkes automatisk ved hver endring</a:t>
            </a:r>
            <a:endParaRPr lang="en-US" sz="2000" dirty="0"/>
          </a:p>
        </p:txBody>
      </p:sp>
      <p:sp>
        <p:nvSpPr>
          <p:cNvPr id="25" name="!!c13_6"/>
          <p:cNvSpPr/>
          <p:nvPr/>
        </p:nvSpPr>
        <p:spPr>
          <a:xfrm>
            <a:off x="5120640" y="7406640"/>
            <a:ext cx="731520" cy="731520"/>
          </a:xfrm>
          <a:prstGeom prst="ellipse">
            <a:avLst/>
          </a:prstGeom>
          <a:solidFill>
            <a:srgbClr val="37D964">
              <a:alpha val="15000"/>
            </a:srgbClr>
          </a:solidFill>
          <a:ln w="12700">
            <a:solidFill>
              <a:srgbClr val="37D964"/>
            </a:solidFill>
            <a:prstDash val="solid"/>
          </a:ln>
        </p:spPr>
      </p:sp>
      <p:pic>
        <p:nvPicPr>
          <p:cNvPr id="26" name="!!c13_7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4376" y="7580376"/>
            <a:ext cx="384048" cy="384048"/>
          </a:xfrm>
          <a:prstGeom prst="rect">
            <a:avLst/>
          </a:prstGeom>
        </p:spPr>
      </p:pic>
      <p:sp>
        <p:nvSpPr>
          <p:cNvPr id="27" name="!!c13_8"/>
          <p:cNvSpPr txBox="1"/>
          <p:nvPr/>
        </p:nvSpPr>
        <p:spPr>
          <a:xfrm>
            <a:off x="6080760" y="7406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Hele nettsiden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Butikk, kasse, admin, skanner og etiketter testes i nettleseren</a:t>
            </a:r>
            <a:endParaRPr lang="en-US" sz="2000" dirty="0"/>
          </a:p>
        </p:txBody>
      </p:sp>
      <p:sp>
        <p:nvSpPr>
          <p:cNvPr id="28" name="!!c13_9"/>
          <p:cNvSpPr/>
          <p:nvPr/>
        </p:nvSpPr>
        <p:spPr>
          <a:xfrm>
            <a:off x="5120640" y="7406640"/>
            <a:ext cx="731520" cy="731520"/>
          </a:xfrm>
          <a:prstGeom prst="ellipse">
            <a:avLst/>
          </a:prstGeom>
          <a:solidFill>
            <a:srgbClr val="37D964">
              <a:alpha val="15000"/>
            </a:srgbClr>
          </a:solidFill>
          <a:ln w="12700">
            <a:solidFill>
              <a:srgbClr val="37D964"/>
            </a:solidFill>
            <a:prstDash val="solid"/>
          </a:ln>
        </p:spPr>
      </p:sp>
      <p:pic>
        <p:nvPicPr>
          <p:cNvPr id="29" name="!!c13_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94376" y="7580376"/>
            <a:ext cx="384048" cy="384048"/>
          </a:xfrm>
          <a:prstGeom prst="rect">
            <a:avLst/>
          </a:prstGeom>
        </p:spPr>
      </p:pic>
      <p:sp>
        <p:nvSpPr>
          <p:cNvPr id="30" name="!!c13_11"/>
          <p:cNvSpPr txBox="1"/>
          <p:nvPr/>
        </p:nvSpPr>
        <p:spPr>
          <a:xfrm>
            <a:off x="6080760" y="7406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Dokumentert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års studenter kan drive og utvide den uten meg</a:t>
            </a:r>
            <a:endParaRPr lang="en-US" sz="2000" dirty="0"/>
          </a:p>
        </p:txBody>
      </p:sp>
      <p:pic>
        <p:nvPicPr>
          <p:cNvPr id="31" name="!!c15_0" descr="/tmp/deck/a/photo-storefront.jpg">    </p:cNvPr>
          <p:cNvPicPr>
            <a:picLocks noChangeAspect="1"/>
          </p:cNvPicPr>
          <p:nvPr/>
        </p:nvPicPr>
        <p:blipFill>
          <a:blip r:embed="rId12">
            <a:alphaModFix amt="18000"/>
          </a:blip>
          <a:stretch>
            <a:fillRect/>
          </a:stretch>
        </p:blipFill>
        <p:spPr>
          <a:xfrm>
            <a:off x="0" y="-7406640"/>
            <a:ext cx="12191695" cy="6858000"/>
          </a:xfrm>
          <a:prstGeom prst="rect">
            <a:avLst/>
          </a:prstGeom>
        </p:spPr>
      </p:pic>
      <p:pic>
        <p:nvPicPr>
          <p:cNvPr id="32" name="!!c15_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21128" y="-1826300"/>
            <a:ext cx="6949440" cy="1277660"/>
          </a:xfrm>
          <a:prstGeom prst="rect">
            <a:avLst/>
          </a:prstGeom>
        </p:spPr>
      </p:pic>
      <p:sp>
        <p:nvSpPr>
          <p:cNvPr id="33" name="!!c15_2"/>
          <p:cNvSpPr txBox="1"/>
          <p:nvPr/>
        </p:nvSpPr>
        <p:spPr>
          <a:xfrm>
            <a:off x="914400" y="740664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Spørsmål?</a:t>
            </a:r>
            <a:endParaRPr lang="en-US" sz="3600" dirty="0"/>
          </a:p>
        </p:txBody>
      </p:sp>
      <p:sp>
        <p:nvSpPr>
          <p:cNvPr id="34" name="!!c15_3"/>
          <p:cNvSpPr/>
          <p:nvPr/>
        </p:nvSpPr>
        <p:spPr>
          <a:xfrm>
            <a:off x="5318608" y="740664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5" name="!!c15_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55768" y="7543800"/>
            <a:ext cx="1280160" cy="1280160"/>
          </a:xfrm>
          <a:prstGeom prst="rect">
            <a:avLst/>
          </a:prstGeom>
        </p:spPr>
      </p:pic>
      <p:sp>
        <p:nvSpPr>
          <p:cNvPr id="36" name="!!c15_5"/>
          <p:cNvSpPr txBox="1"/>
          <p:nvPr/>
        </p:nvSpPr>
        <p:spPr>
          <a:xfrm>
            <a:off x="914400" y="74066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ampoteket.no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c15_0" descr="/tmp/deck/a/photo-storefront.jp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!!orbR" descr="/tmp/deck/a/orb-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77440" y="3291840"/>
            <a:ext cx="6400800" cy="6400800"/>
          </a:xfrm>
          <a:prstGeom prst="rect">
            <a:avLst/>
          </a:prstGeom>
        </p:spPr>
      </p:pic>
      <p:pic>
        <p:nvPicPr>
          <p:cNvPr id="5" name="!!orbG" descr="/tmp/deck/a/orb-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-2926080"/>
            <a:ext cx="6400800" cy="6400800"/>
          </a:xfrm>
          <a:prstGeom prst="rect">
            <a:avLst/>
          </a:prstGeom>
        </p:spPr>
      </p:pic>
      <p:pic>
        <p:nvPicPr>
          <p:cNvPr id="6" name="!!c15_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1128" y="1600200"/>
            <a:ext cx="6949440" cy="1277660"/>
          </a:xfrm>
          <a:prstGeom prst="rect">
            <a:avLst/>
          </a:prstGeom>
        </p:spPr>
      </p:pic>
      <p:sp>
        <p:nvSpPr>
          <p:cNvPr id="7" name="!!c15_2"/>
          <p:cNvSpPr txBox="1"/>
          <p:nvPr/>
        </p:nvSpPr>
        <p:spPr>
          <a:xfrm>
            <a:off x="914400" y="315468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Spørsmål?</a:t>
            </a:r>
            <a:endParaRPr lang="en-US" sz="3600" dirty="0"/>
          </a:p>
        </p:txBody>
      </p:sp>
      <p:sp>
        <p:nvSpPr>
          <p:cNvPr id="8" name="!!c15_3"/>
          <p:cNvSpPr/>
          <p:nvPr/>
        </p:nvSpPr>
        <p:spPr>
          <a:xfrm>
            <a:off x="5318608" y="411480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!!c15_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5768" y="4251960"/>
            <a:ext cx="1280160" cy="1280160"/>
          </a:xfrm>
          <a:prstGeom prst="rect">
            <a:avLst/>
          </a:prstGeom>
        </p:spPr>
      </p:pic>
      <p:sp>
        <p:nvSpPr>
          <p:cNvPr id="10" name="!!c15_5"/>
          <p:cNvSpPr txBox="1"/>
          <p:nvPr/>
        </p:nvSpPr>
        <p:spPr>
          <a:xfrm>
            <a:off x="914400" y="58064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ampoteket.no</a:t>
            </a:r>
            <a:endParaRPr lang="en-US" sz="1600" dirty="0"/>
          </a:p>
        </p:txBody>
      </p:sp>
      <p:sp>
        <p:nvSpPr>
          <p:cNvPr id="11" name="!!c14_0"/>
          <p:cNvSpPr txBox="1"/>
          <p:nvPr/>
        </p:nvSpPr>
        <p:spPr>
          <a:xfrm>
            <a:off x="548640" y="-17373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Før lansering trenger jeg fra dere</a:t>
            </a:r>
            <a:endParaRPr lang="en-US" sz="3600" dirty="0"/>
          </a:p>
        </p:txBody>
      </p:sp>
      <p:sp>
        <p:nvSpPr>
          <p:cNvPr id="12" name="!!c14_1"/>
          <p:cNvSpPr/>
          <p:nvPr/>
        </p:nvSpPr>
        <p:spPr>
          <a:xfrm>
            <a:off x="548640" y="-2423160"/>
            <a:ext cx="5440680" cy="1874520"/>
          </a:xfrm>
          <a:prstGeom prst="roundRect">
            <a:avLst>
              <a:gd name="adj" fmla="val 6829"/>
            </a:avLst>
          </a:prstGeom>
          <a:solidFill>
            <a:srgbClr val="0F0F11"/>
          </a:solidFill>
          <a:ln w="12700">
            <a:solidFill>
              <a:srgbClr val="2A2A2D"/>
            </a:solidFill>
            <a:prstDash val="solid"/>
          </a:ln>
        </p:spPr>
      </p:sp>
      <p:pic>
        <p:nvPicPr>
          <p:cNvPr id="13" name="!!c14_2" descr="/tmp/deck/a/led-g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-1965960"/>
            <a:ext cx="713232" cy="960120"/>
          </a:xfrm>
          <a:prstGeom prst="rect">
            <a:avLst/>
          </a:prstGeom>
        </p:spPr>
      </p:pic>
      <p:sp>
        <p:nvSpPr>
          <p:cNvPr id="14" name="!!c14_3"/>
          <p:cNvSpPr txBox="1"/>
          <p:nvPr/>
        </p:nvSpPr>
        <p:spPr>
          <a:xfrm>
            <a:off x="1920240" y="-214884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Klarsignal</a:t>
            </a:r>
            <a:endParaRPr lang="en-US" sz="2400" dirty="0"/>
          </a:p>
          <a:p>
            <a:pPr indent="0" marL="0">
              <a:buNone/>
            </a:pPr>
            <a:r>
              <a:rPr lang="en-US" sz="17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 til å publisere på ampoteket.no</a:t>
            </a:r>
            <a:endParaRPr lang="en-US" sz="2400" dirty="0"/>
          </a:p>
        </p:txBody>
      </p:sp>
      <p:sp>
        <p:nvSpPr>
          <p:cNvPr id="15" name="!!c14_4"/>
          <p:cNvSpPr/>
          <p:nvPr/>
        </p:nvSpPr>
        <p:spPr>
          <a:xfrm>
            <a:off x="6190488" y="-2423160"/>
            <a:ext cx="5440680" cy="1874520"/>
          </a:xfrm>
          <a:prstGeom prst="roundRect">
            <a:avLst>
              <a:gd name="adj" fmla="val 6829"/>
            </a:avLst>
          </a:prstGeom>
          <a:solidFill>
            <a:srgbClr val="0F0F11"/>
          </a:solidFill>
          <a:ln w="12700">
            <a:solidFill>
              <a:srgbClr val="2A2A2D"/>
            </a:solidFill>
            <a:prstDash val="solid"/>
          </a:ln>
        </p:spPr>
      </p:sp>
      <p:pic>
        <p:nvPicPr>
          <p:cNvPr id="16" name="!!c14_5" descr="/tmp/deck/a/led-g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248" y="-1965960"/>
            <a:ext cx="713232" cy="960120"/>
          </a:xfrm>
          <a:prstGeom prst="rect">
            <a:avLst/>
          </a:prstGeom>
        </p:spPr>
      </p:pic>
      <p:sp>
        <p:nvSpPr>
          <p:cNvPr id="17" name="!!c14_6"/>
          <p:cNvSpPr txBox="1"/>
          <p:nvPr/>
        </p:nvSpPr>
        <p:spPr>
          <a:xfrm>
            <a:off x="7562088" y="-214884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Startlager</a:t>
            </a:r>
            <a:endParaRPr lang="en-US" sz="2400" dirty="0"/>
          </a:p>
          <a:p>
            <a:pPr indent="0" marL="0">
              <a:buNone/>
            </a:pPr>
            <a:r>
              <a:rPr lang="en-US" sz="17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Frivillige teller skuffene inn, med stikkprøver</a:t>
            </a:r>
            <a:endParaRPr lang="en-US" sz="2400" dirty="0"/>
          </a:p>
        </p:txBody>
      </p:sp>
      <p:sp>
        <p:nvSpPr>
          <p:cNvPr id="18" name="!!c14_7"/>
          <p:cNvSpPr/>
          <p:nvPr/>
        </p:nvSpPr>
        <p:spPr>
          <a:xfrm>
            <a:off x="548640" y="7406640"/>
            <a:ext cx="5440680" cy="1874520"/>
          </a:xfrm>
          <a:prstGeom prst="roundRect">
            <a:avLst>
              <a:gd name="adj" fmla="val 6829"/>
            </a:avLst>
          </a:prstGeom>
          <a:solidFill>
            <a:srgbClr val="0F0F11"/>
          </a:solidFill>
          <a:ln w="12700">
            <a:solidFill>
              <a:srgbClr val="2A2A2D"/>
            </a:solidFill>
            <a:prstDash val="solid"/>
          </a:ln>
        </p:spPr>
      </p:sp>
      <p:pic>
        <p:nvPicPr>
          <p:cNvPr id="19" name="!!c14_8" descr="/tmp/deck/a/led-g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7863840"/>
            <a:ext cx="713232" cy="960120"/>
          </a:xfrm>
          <a:prstGeom prst="rect">
            <a:avLst/>
          </a:prstGeom>
        </p:spPr>
      </p:pic>
      <p:sp>
        <p:nvSpPr>
          <p:cNvPr id="20" name="!!c14_9"/>
          <p:cNvSpPr txBox="1"/>
          <p:nvPr/>
        </p:nvSpPr>
        <p:spPr>
          <a:xfrm>
            <a:off x="1920240" y="768096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Lapper på skuffene</a:t>
            </a:r>
            <a:endParaRPr lang="en-US" sz="2400" dirty="0"/>
          </a:p>
          <a:p>
            <a:pPr indent="0" marL="0">
              <a:buNone/>
            </a:pPr>
            <a:r>
              <a:rPr lang="en-US" sz="17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Testark, mål og skanning i verkstedlyset</a:t>
            </a:r>
            <a:endParaRPr lang="en-US" sz="2400" dirty="0"/>
          </a:p>
        </p:txBody>
      </p:sp>
      <p:sp>
        <p:nvSpPr>
          <p:cNvPr id="21" name="!!c14_10"/>
          <p:cNvSpPr/>
          <p:nvPr/>
        </p:nvSpPr>
        <p:spPr>
          <a:xfrm>
            <a:off x="6190488" y="7406640"/>
            <a:ext cx="5440680" cy="1874520"/>
          </a:xfrm>
          <a:prstGeom prst="roundRect">
            <a:avLst>
              <a:gd name="adj" fmla="val 6829"/>
            </a:avLst>
          </a:prstGeom>
          <a:solidFill>
            <a:srgbClr val="0F0F11"/>
          </a:solidFill>
          <a:ln w="12700">
            <a:solidFill>
              <a:srgbClr val="2A2A2D"/>
            </a:solidFill>
            <a:prstDash val="solid"/>
          </a:ln>
        </p:spPr>
      </p:sp>
      <p:pic>
        <p:nvPicPr>
          <p:cNvPr id="22" name="!!c14_11" descr="/tmp/deck/a/led-g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6248" y="7863840"/>
            <a:ext cx="713232" cy="960120"/>
          </a:xfrm>
          <a:prstGeom prst="rect">
            <a:avLst/>
          </a:prstGeom>
        </p:spPr>
      </p:pic>
      <p:sp>
        <p:nvSpPr>
          <p:cNvPr id="23" name="!!c14_12"/>
          <p:cNvSpPr txBox="1"/>
          <p:nvPr/>
        </p:nvSpPr>
        <p:spPr>
          <a:xfrm>
            <a:off x="7562088" y="768096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Kontaktpersoner</a:t>
            </a:r>
            <a:endParaRPr lang="en-US" sz="2400" dirty="0"/>
          </a:p>
          <a:p>
            <a:pPr indent="0" marL="0">
              <a:buNone/>
            </a:pPr>
            <a:r>
              <a:rPr lang="en-US" sz="17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Navn og kontaktmåte til hjelpesiden</a:t>
            </a:r>
            <a:endParaRPr lang="en-US" sz="2400" dirty="0"/>
          </a:p>
        </p:txBody>
      </p:sp>
      <p:pic>
        <p:nvPicPr>
          <p:cNvPr id="24" name="!!logo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-842838"/>
            <a:ext cx="1600200" cy="2941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Ampoteket</dc:title>
  <dc:subject>PptxGenJS Presentation</dc:subject>
  <dc:creator>Hjalmar Karlsen</dc:creator>
  <cp:lastModifiedBy>Hjalmar Karlsen</cp:lastModifiedBy>
  <cp:revision>1</cp:revision>
  <dcterms:created xsi:type="dcterms:W3CDTF">2026-10-01T04:26:35Z</dcterms:created>
  <dcterms:modified xsi:type="dcterms:W3CDTF">2026-10-01T04:26:35Z</dcterms:modified>
</cp:coreProperties>
</file>